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67" r:id="rId6"/>
    <p:sldId id="257" r:id="rId7"/>
    <p:sldId id="283" r:id="rId8"/>
    <p:sldId id="292" r:id="rId9"/>
    <p:sldId id="284" r:id="rId10"/>
    <p:sldId id="285" r:id="rId11"/>
    <p:sldId id="258" r:id="rId12"/>
    <p:sldId id="286" r:id="rId13"/>
    <p:sldId id="269" r:id="rId14"/>
    <p:sldId id="266" r:id="rId15"/>
    <p:sldId id="268" r:id="rId16"/>
    <p:sldId id="287" r:id="rId17"/>
    <p:sldId id="282" r:id="rId18"/>
    <p:sldId id="288" r:id="rId19"/>
    <p:sldId id="272" r:id="rId20"/>
    <p:sldId id="299" r:id="rId21"/>
    <p:sldId id="300" r:id="rId22"/>
    <p:sldId id="301" r:id="rId23"/>
    <p:sldId id="290" r:id="rId24"/>
    <p:sldId id="294" r:id="rId25"/>
    <p:sldId id="259" r:id="rId26"/>
    <p:sldId id="276" r:id="rId27"/>
    <p:sldId id="279" r:id="rId28"/>
    <p:sldId id="262" r:id="rId29"/>
    <p:sldId id="260" r:id="rId30"/>
    <p:sldId id="295" r:id="rId31"/>
    <p:sldId id="263" r:id="rId32"/>
    <p:sldId id="264" r:id="rId33"/>
    <p:sldId id="265" r:id="rId34"/>
    <p:sldId id="289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DF2469-D717-A10C-8B94-36BDE19001D6}" v="267" dt="2025-11-11T01:10:42.580"/>
    <p1510:client id="{BF047978-173E-CBB7-4389-0C544823CD5F}" v="171" dt="2025-11-10T23:38:07.081"/>
    <p1510:client id="{C748BD47-CF2E-8AD4-4912-953FD63B6583}" v="412" dt="2025-11-09T20:39:31.5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6" y="1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563435-1BD7-461B-8747-D7F52FF642F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6844093-FCB7-4D15-AAD4-6B558FDCFEAF}">
      <dgm:prSet/>
      <dgm:spPr/>
      <dgm:t>
        <a:bodyPr/>
        <a:lstStyle/>
        <a:p>
          <a:r>
            <a:rPr lang="pt-BR"/>
            <a:t>A BRF atua do setor alimentício.</a:t>
          </a:r>
          <a:endParaRPr lang="en-US"/>
        </a:p>
      </dgm:t>
    </dgm:pt>
    <dgm:pt modelId="{77CE048C-712D-48D0-B3E8-6213D75D9BFE}" type="parTrans" cxnId="{562DA996-B8C2-45B3-9A7A-1B77E15B1B0D}">
      <dgm:prSet/>
      <dgm:spPr/>
      <dgm:t>
        <a:bodyPr/>
        <a:lstStyle/>
        <a:p>
          <a:endParaRPr lang="en-US"/>
        </a:p>
      </dgm:t>
    </dgm:pt>
    <dgm:pt modelId="{90D0E88F-DC3E-4151-B17D-835C2AE10F63}" type="sibTrans" cxnId="{562DA996-B8C2-45B3-9A7A-1B77E15B1B0D}">
      <dgm:prSet/>
      <dgm:spPr/>
      <dgm:t>
        <a:bodyPr/>
        <a:lstStyle/>
        <a:p>
          <a:endParaRPr lang="en-US"/>
        </a:p>
      </dgm:t>
    </dgm:pt>
    <dgm:pt modelId="{6B92F643-C1DE-45EF-87A4-EEEBA655E359}">
      <dgm:prSet/>
      <dgm:spPr/>
      <dgm:t>
        <a:bodyPr/>
        <a:lstStyle/>
        <a:p>
          <a:r>
            <a:rPr lang="pt-BR" dirty="0"/>
            <a:t>Maior produtora de frangos e suínos do Brasil, atuando na produção de carnes in natura e congeladas.</a:t>
          </a:r>
          <a:endParaRPr lang="en-US" dirty="0"/>
        </a:p>
      </dgm:t>
    </dgm:pt>
    <dgm:pt modelId="{4E812209-DAEF-41FB-AE5E-AF7B10DA06BA}" type="parTrans" cxnId="{3A7E2F9A-E4BE-44B6-A72C-1BBAE72075CE}">
      <dgm:prSet/>
      <dgm:spPr/>
      <dgm:t>
        <a:bodyPr/>
        <a:lstStyle/>
        <a:p>
          <a:endParaRPr lang="en-US"/>
        </a:p>
      </dgm:t>
    </dgm:pt>
    <dgm:pt modelId="{E38B87F6-8238-4B63-906F-F91EE3681157}" type="sibTrans" cxnId="{3A7E2F9A-E4BE-44B6-A72C-1BBAE72075CE}">
      <dgm:prSet/>
      <dgm:spPr/>
      <dgm:t>
        <a:bodyPr/>
        <a:lstStyle/>
        <a:p>
          <a:endParaRPr lang="en-US"/>
        </a:p>
      </dgm:t>
    </dgm:pt>
    <dgm:pt modelId="{0E265C46-DA48-42A5-BCE9-84C9FA05F9A7}">
      <dgm:prSet/>
      <dgm:spPr/>
      <dgm:t>
        <a:bodyPr/>
        <a:lstStyle/>
        <a:p>
          <a:r>
            <a:rPr lang="pt-BR"/>
            <a:t>Alimentos industrializados como embutidos, congelados e margarina.</a:t>
          </a:r>
          <a:endParaRPr lang="en-US"/>
        </a:p>
      </dgm:t>
    </dgm:pt>
    <dgm:pt modelId="{5C3F0DB7-1589-420F-A566-398B18442B67}" type="parTrans" cxnId="{BFFB5C80-9A6F-4F31-A0D0-A25F6E037BA0}">
      <dgm:prSet/>
      <dgm:spPr/>
      <dgm:t>
        <a:bodyPr/>
        <a:lstStyle/>
        <a:p>
          <a:endParaRPr lang="en-US"/>
        </a:p>
      </dgm:t>
    </dgm:pt>
    <dgm:pt modelId="{F5D18280-B09F-4531-A200-CCE25800813B}" type="sibTrans" cxnId="{BFFB5C80-9A6F-4F31-A0D0-A25F6E037BA0}">
      <dgm:prSet/>
      <dgm:spPr/>
      <dgm:t>
        <a:bodyPr/>
        <a:lstStyle/>
        <a:p>
          <a:endParaRPr lang="en-US"/>
        </a:p>
      </dgm:t>
    </dgm:pt>
    <dgm:pt modelId="{5D1555EB-6590-4768-A08F-85FB023BF17B}">
      <dgm:prSet/>
      <dgm:spPr/>
      <dgm:t>
        <a:bodyPr/>
        <a:lstStyle/>
        <a:p>
          <a:r>
            <a:rPr lang="pt-BR" dirty="0"/>
            <a:t>A empresa tem uma unidade de negócio voltada para ingredientes, a BRF </a:t>
          </a:r>
          <a:r>
            <a:rPr lang="pt-BR" dirty="0" err="1"/>
            <a:t>Ingredients</a:t>
          </a:r>
          <a:r>
            <a:rPr lang="pt-BR" dirty="0"/>
            <a:t>.</a:t>
          </a:r>
          <a:endParaRPr lang="en-US" dirty="0"/>
        </a:p>
      </dgm:t>
    </dgm:pt>
    <dgm:pt modelId="{909398F8-A59F-43EA-BD18-B55561D87414}" type="parTrans" cxnId="{E1BCC523-E0A4-483D-8139-A057AB085A24}">
      <dgm:prSet/>
      <dgm:spPr/>
      <dgm:t>
        <a:bodyPr/>
        <a:lstStyle/>
        <a:p>
          <a:endParaRPr lang="en-US"/>
        </a:p>
      </dgm:t>
    </dgm:pt>
    <dgm:pt modelId="{930EBEEA-8BCA-4C12-AC1C-82A33350946E}" type="sibTrans" cxnId="{E1BCC523-E0A4-483D-8139-A057AB085A24}">
      <dgm:prSet/>
      <dgm:spPr/>
      <dgm:t>
        <a:bodyPr/>
        <a:lstStyle/>
        <a:p>
          <a:endParaRPr lang="en-US"/>
        </a:p>
      </dgm:t>
    </dgm:pt>
    <dgm:pt modelId="{40C1CE47-D75B-445F-9D8C-A5964C0DD295}" type="pres">
      <dgm:prSet presAssocID="{53563435-1BD7-461B-8747-D7F52FF642F7}" presName="linear" presStyleCnt="0">
        <dgm:presLayoutVars>
          <dgm:animLvl val="lvl"/>
          <dgm:resizeHandles val="exact"/>
        </dgm:presLayoutVars>
      </dgm:prSet>
      <dgm:spPr/>
    </dgm:pt>
    <dgm:pt modelId="{52351810-E236-4780-84B0-45618AA4663F}" type="pres">
      <dgm:prSet presAssocID="{D6844093-FCB7-4D15-AAD4-6B558FDCFEA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1447D7-4B40-47DB-8781-0AA023F39905}" type="pres">
      <dgm:prSet presAssocID="{90D0E88F-DC3E-4151-B17D-835C2AE10F63}" presName="spacer" presStyleCnt="0"/>
      <dgm:spPr/>
    </dgm:pt>
    <dgm:pt modelId="{8EDE822F-9EEE-4FB4-B842-A3F7F7BBFE47}" type="pres">
      <dgm:prSet presAssocID="{6B92F643-C1DE-45EF-87A4-EEEBA655E3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E907740-62B9-45F2-824C-6D7AE607FAC9}" type="pres">
      <dgm:prSet presAssocID="{E38B87F6-8238-4B63-906F-F91EE3681157}" presName="spacer" presStyleCnt="0"/>
      <dgm:spPr/>
    </dgm:pt>
    <dgm:pt modelId="{DD100AE8-6BF2-4AEB-AB22-553036911435}" type="pres">
      <dgm:prSet presAssocID="{0E265C46-DA48-42A5-BCE9-84C9FA05F9A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4E1CF7F-A1F0-4D95-B0E4-9BC033DEE899}" type="pres">
      <dgm:prSet presAssocID="{F5D18280-B09F-4531-A200-CCE25800813B}" presName="spacer" presStyleCnt="0"/>
      <dgm:spPr/>
    </dgm:pt>
    <dgm:pt modelId="{FD25C02D-30F7-4213-B236-00EF3982393E}" type="pres">
      <dgm:prSet presAssocID="{5D1555EB-6590-4768-A08F-85FB023BF17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1BCC523-E0A4-483D-8139-A057AB085A24}" srcId="{53563435-1BD7-461B-8747-D7F52FF642F7}" destId="{5D1555EB-6590-4768-A08F-85FB023BF17B}" srcOrd="3" destOrd="0" parTransId="{909398F8-A59F-43EA-BD18-B55561D87414}" sibTransId="{930EBEEA-8BCA-4C12-AC1C-82A33350946E}"/>
    <dgm:cxn modelId="{15286C3B-88DC-44D8-A5F6-CDF39251F865}" type="presOf" srcId="{5D1555EB-6590-4768-A08F-85FB023BF17B}" destId="{FD25C02D-30F7-4213-B236-00EF3982393E}" srcOrd="0" destOrd="0" presId="urn:microsoft.com/office/officeart/2005/8/layout/vList2"/>
    <dgm:cxn modelId="{BFFB5C80-9A6F-4F31-A0D0-A25F6E037BA0}" srcId="{53563435-1BD7-461B-8747-D7F52FF642F7}" destId="{0E265C46-DA48-42A5-BCE9-84C9FA05F9A7}" srcOrd="2" destOrd="0" parTransId="{5C3F0DB7-1589-420F-A566-398B18442B67}" sibTransId="{F5D18280-B09F-4531-A200-CCE25800813B}"/>
    <dgm:cxn modelId="{562DA996-B8C2-45B3-9A7A-1B77E15B1B0D}" srcId="{53563435-1BD7-461B-8747-D7F52FF642F7}" destId="{D6844093-FCB7-4D15-AAD4-6B558FDCFEAF}" srcOrd="0" destOrd="0" parTransId="{77CE048C-712D-48D0-B3E8-6213D75D9BFE}" sibTransId="{90D0E88F-DC3E-4151-B17D-835C2AE10F63}"/>
    <dgm:cxn modelId="{9E496F97-A361-4D6D-8F95-FB41FAB09430}" type="presOf" srcId="{53563435-1BD7-461B-8747-D7F52FF642F7}" destId="{40C1CE47-D75B-445F-9D8C-A5964C0DD295}" srcOrd="0" destOrd="0" presId="urn:microsoft.com/office/officeart/2005/8/layout/vList2"/>
    <dgm:cxn modelId="{3A7E2F9A-E4BE-44B6-A72C-1BBAE72075CE}" srcId="{53563435-1BD7-461B-8747-D7F52FF642F7}" destId="{6B92F643-C1DE-45EF-87A4-EEEBA655E359}" srcOrd="1" destOrd="0" parTransId="{4E812209-DAEF-41FB-AE5E-AF7B10DA06BA}" sibTransId="{E38B87F6-8238-4B63-906F-F91EE3681157}"/>
    <dgm:cxn modelId="{DAD161A1-DD71-4815-8493-32FC9EADAA22}" type="presOf" srcId="{0E265C46-DA48-42A5-BCE9-84C9FA05F9A7}" destId="{DD100AE8-6BF2-4AEB-AB22-553036911435}" srcOrd="0" destOrd="0" presId="urn:microsoft.com/office/officeart/2005/8/layout/vList2"/>
    <dgm:cxn modelId="{E0E5ECAC-AC5F-4797-B943-744E063C1592}" type="presOf" srcId="{D6844093-FCB7-4D15-AAD4-6B558FDCFEAF}" destId="{52351810-E236-4780-84B0-45618AA4663F}" srcOrd="0" destOrd="0" presId="urn:microsoft.com/office/officeart/2005/8/layout/vList2"/>
    <dgm:cxn modelId="{98D045BB-72D3-4808-997A-30239A443783}" type="presOf" srcId="{6B92F643-C1DE-45EF-87A4-EEEBA655E359}" destId="{8EDE822F-9EEE-4FB4-B842-A3F7F7BBFE47}" srcOrd="0" destOrd="0" presId="urn:microsoft.com/office/officeart/2005/8/layout/vList2"/>
    <dgm:cxn modelId="{20560C17-3C2C-40D7-B772-033CD50930D4}" type="presParOf" srcId="{40C1CE47-D75B-445F-9D8C-A5964C0DD295}" destId="{52351810-E236-4780-84B0-45618AA4663F}" srcOrd="0" destOrd="0" presId="urn:microsoft.com/office/officeart/2005/8/layout/vList2"/>
    <dgm:cxn modelId="{2437BB89-715F-4C5A-A0C6-250A94389CAF}" type="presParOf" srcId="{40C1CE47-D75B-445F-9D8C-A5964C0DD295}" destId="{AE1447D7-4B40-47DB-8781-0AA023F39905}" srcOrd="1" destOrd="0" presId="urn:microsoft.com/office/officeart/2005/8/layout/vList2"/>
    <dgm:cxn modelId="{4355BD35-9244-47CE-9B12-AC42EA56D03A}" type="presParOf" srcId="{40C1CE47-D75B-445F-9D8C-A5964C0DD295}" destId="{8EDE822F-9EEE-4FB4-B842-A3F7F7BBFE47}" srcOrd="2" destOrd="0" presId="urn:microsoft.com/office/officeart/2005/8/layout/vList2"/>
    <dgm:cxn modelId="{753ECA6D-684C-43B2-8483-63009EAC3243}" type="presParOf" srcId="{40C1CE47-D75B-445F-9D8C-A5964C0DD295}" destId="{0E907740-62B9-45F2-824C-6D7AE607FAC9}" srcOrd="3" destOrd="0" presId="urn:microsoft.com/office/officeart/2005/8/layout/vList2"/>
    <dgm:cxn modelId="{A70720C7-3B56-48D9-B84D-B42F588B29B3}" type="presParOf" srcId="{40C1CE47-D75B-445F-9D8C-A5964C0DD295}" destId="{DD100AE8-6BF2-4AEB-AB22-553036911435}" srcOrd="4" destOrd="0" presId="urn:microsoft.com/office/officeart/2005/8/layout/vList2"/>
    <dgm:cxn modelId="{91A6B67A-0E58-4DDE-A296-DCAC83FD357A}" type="presParOf" srcId="{40C1CE47-D75B-445F-9D8C-A5964C0DD295}" destId="{E4E1CF7F-A1F0-4D95-B0E4-9BC033DEE899}" srcOrd="5" destOrd="0" presId="urn:microsoft.com/office/officeart/2005/8/layout/vList2"/>
    <dgm:cxn modelId="{E6432B44-E92D-4650-9376-2264D460214B}" type="presParOf" srcId="{40C1CE47-D75B-445F-9D8C-A5964C0DD295}" destId="{FD25C02D-30F7-4213-B236-00EF3982393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FCB960-2108-40C7-9F2F-99E597F8912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6A545D1-6EF1-4210-BBF7-65C00C9F6869}">
      <dgm:prSet/>
      <dgm:spPr/>
      <dgm:t>
        <a:bodyPr/>
        <a:lstStyle/>
        <a:p>
          <a:r>
            <a:rPr lang="pt-BR"/>
            <a:t>Presente em mais de 117 países.</a:t>
          </a:r>
          <a:endParaRPr lang="en-US"/>
        </a:p>
      </dgm:t>
    </dgm:pt>
    <dgm:pt modelId="{4BEB06F1-5078-4E24-9A1B-818444CDFAB6}" type="parTrans" cxnId="{725E7D06-709D-424E-B4DF-19EB110D8D7B}">
      <dgm:prSet/>
      <dgm:spPr/>
      <dgm:t>
        <a:bodyPr/>
        <a:lstStyle/>
        <a:p>
          <a:endParaRPr lang="en-US"/>
        </a:p>
      </dgm:t>
    </dgm:pt>
    <dgm:pt modelId="{98B9E697-71B8-4364-A2BF-4D32322B79BB}" type="sibTrans" cxnId="{725E7D06-709D-424E-B4DF-19EB110D8D7B}">
      <dgm:prSet/>
      <dgm:spPr/>
      <dgm:t>
        <a:bodyPr/>
        <a:lstStyle/>
        <a:p>
          <a:endParaRPr lang="en-US"/>
        </a:p>
      </dgm:t>
    </dgm:pt>
    <dgm:pt modelId="{95F1E4C8-7851-4C6B-8802-1A4F5C4D90B0}">
      <dgm:prSet/>
      <dgm:spPr/>
      <dgm:t>
        <a:bodyPr/>
        <a:lstStyle/>
        <a:p>
          <a:r>
            <a:rPr lang="pt-BR"/>
            <a:t>Conta com 22 centros de distribuição e 35 plantas industriais no Brasil.</a:t>
          </a:r>
          <a:endParaRPr lang="en-US"/>
        </a:p>
      </dgm:t>
    </dgm:pt>
    <dgm:pt modelId="{7DC99AAB-6818-4D96-B58C-668AD3010600}" type="parTrans" cxnId="{3009765B-573C-4EA8-86FD-9F837B9C77FE}">
      <dgm:prSet/>
      <dgm:spPr/>
      <dgm:t>
        <a:bodyPr/>
        <a:lstStyle/>
        <a:p>
          <a:endParaRPr lang="en-US"/>
        </a:p>
      </dgm:t>
    </dgm:pt>
    <dgm:pt modelId="{24ED44F3-281A-4B07-8A4D-90616C49486B}" type="sibTrans" cxnId="{3009765B-573C-4EA8-86FD-9F837B9C77FE}">
      <dgm:prSet/>
      <dgm:spPr/>
      <dgm:t>
        <a:bodyPr/>
        <a:lstStyle/>
        <a:p>
          <a:endParaRPr lang="en-US"/>
        </a:p>
      </dgm:t>
    </dgm:pt>
    <dgm:pt modelId="{BF280C4E-B8F1-49EA-8188-ECBFD979E5C5}">
      <dgm:prSet/>
      <dgm:spPr/>
      <dgm:t>
        <a:bodyPr/>
        <a:lstStyle/>
        <a:p>
          <a:r>
            <a:rPr lang="pt-BR"/>
            <a:t>Brasil: é a região de maior valor, alvo de investimento em marcas, inovação e eficiência operacional</a:t>
          </a:r>
          <a:endParaRPr lang="en-US"/>
        </a:p>
      </dgm:t>
    </dgm:pt>
    <dgm:pt modelId="{93B8D522-74C1-44C6-ABBA-6206E1CABA80}" type="parTrans" cxnId="{FC0225E8-8845-4706-987C-EF7E516308F3}">
      <dgm:prSet/>
      <dgm:spPr/>
      <dgm:t>
        <a:bodyPr/>
        <a:lstStyle/>
        <a:p>
          <a:endParaRPr lang="en-US"/>
        </a:p>
      </dgm:t>
    </dgm:pt>
    <dgm:pt modelId="{36F1695C-7223-4365-86AC-473939D83AB2}" type="sibTrans" cxnId="{FC0225E8-8845-4706-987C-EF7E516308F3}">
      <dgm:prSet/>
      <dgm:spPr/>
      <dgm:t>
        <a:bodyPr/>
        <a:lstStyle/>
        <a:p>
          <a:endParaRPr lang="en-US"/>
        </a:p>
      </dgm:t>
    </dgm:pt>
    <dgm:pt modelId="{E81B87B8-7E77-4148-BA25-26C479653143}">
      <dgm:prSet/>
      <dgm:spPr/>
      <dgm:t>
        <a:bodyPr/>
        <a:lstStyle/>
        <a:p>
          <a:r>
            <a:rPr lang="pt-BR"/>
            <a:t>Américas: mercados com alto potencial de crescimento.</a:t>
          </a:r>
          <a:endParaRPr lang="en-US"/>
        </a:p>
      </dgm:t>
    </dgm:pt>
    <dgm:pt modelId="{F7E3D147-3A48-4ED3-A260-265EB15EA491}" type="parTrans" cxnId="{E6FA8029-FB2A-4673-A919-D0F11F6B4E82}">
      <dgm:prSet/>
      <dgm:spPr/>
      <dgm:t>
        <a:bodyPr/>
        <a:lstStyle/>
        <a:p>
          <a:endParaRPr lang="en-US"/>
        </a:p>
      </dgm:t>
    </dgm:pt>
    <dgm:pt modelId="{81E23158-7AD9-4D07-87BE-9B12E51892C9}" type="sibTrans" cxnId="{E6FA8029-FB2A-4673-A919-D0F11F6B4E82}">
      <dgm:prSet/>
      <dgm:spPr/>
      <dgm:t>
        <a:bodyPr/>
        <a:lstStyle/>
        <a:p>
          <a:endParaRPr lang="en-US"/>
        </a:p>
      </dgm:t>
    </dgm:pt>
    <dgm:pt modelId="{9EF9B7D5-411F-4997-8D25-F7EB43A57ED4}">
      <dgm:prSet/>
      <dgm:spPr/>
      <dgm:t>
        <a:bodyPr/>
        <a:lstStyle/>
        <a:p>
          <a:r>
            <a:rPr lang="pt-BR"/>
            <a:t>Europa: explora crescimento e inovação</a:t>
          </a:r>
          <a:endParaRPr lang="en-US"/>
        </a:p>
      </dgm:t>
    </dgm:pt>
    <dgm:pt modelId="{672025A0-9EB1-4F60-BAAC-4A29D755FE58}" type="parTrans" cxnId="{94FBBCE7-BB46-43E2-9D98-655CA0D036D6}">
      <dgm:prSet/>
      <dgm:spPr/>
      <dgm:t>
        <a:bodyPr/>
        <a:lstStyle/>
        <a:p>
          <a:endParaRPr lang="en-US"/>
        </a:p>
      </dgm:t>
    </dgm:pt>
    <dgm:pt modelId="{AB61F40D-269D-4090-BDCA-0BB16BC6E362}" type="sibTrans" cxnId="{94FBBCE7-BB46-43E2-9D98-655CA0D036D6}">
      <dgm:prSet/>
      <dgm:spPr/>
      <dgm:t>
        <a:bodyPr/>
        <a:lstStyle/>
        <a:p>
          <a:endParaRPr lang="en-US"/>
        </a:p>
      </dgm:t>
    </dgm:pt>
    <dgm:pt modelId="{3F695D36-DD40-40B6-B233-C8D22A794ED4}">
      <dgm:prSet/>
      <dgm:spPr/>
      <dgm:t>
        <a:bodyPr/>
        <a:lstStyle/>
        <a:p>
          <a:r>
            <a:rPr lang="pt-BR"/>
            <a:t>Asia: região de alta complexidade.</a:t>
          </a:r>
          <a:endParaRPr lang="en-US"/>
        </a:p>
      </dgm:t>
    </dgm:pt>
    <dgm:pt modelId="{32FD04A4-2545-4043-92AA-C86E41EA2C4D}" type="parTrans" cxnId="{5874445E-C1B5-4EFE-A401-26FA140A0B7B}">
      <dgm:prSet/>
      <dgm:spPr/>
      <dgm:t>
        <a:bodyPr/>
        <a:lstStyle/>
        <a:p>
          <a:endParaRPr lang="en-US"/>
        </a:p>
      </dgm:t>
    </dgm:pt>
    <dgm:pt modelId="{6FE0F649-9CC9-48E4-957E-9F261295A7C6}" type="sibTrans" cxnId="{5874445E-C1B5-4EFE-A401-26FA140A0B7B}">
      <dgm:prSet/>
      <dgm:spPr/>
      <dgm:t>
        <a:bodyPr/>
        <a:lstStyle/>
        <a:p>
          <a:endParaRPr lang="en-US"/>
        </a:p>
      </dgm:t>
    </dgm:pt>
    <dgm:pt modelId="{FDC695CC-7E4C-40C5-A5DD-3BCEDC147261}">
      <dgm:prSet/>
      <dgm:spPr/>
      <dgm:t>
        <a:bodyPr/>
        <a:lstStyle/>
        <a:p>
          <a:r>
            <a:rPr lang="pt-BR"/>
            <a:t>África: inovações direcionadas para o varejo local.</a:t>
          </a:r>
          <a:endParaRPr lang="en-US"/>
        </a:p>
      </dgm:t>
    </dgm:pt>
    <dgm:pt modelId="{994837F8-606F-4C50-B137-657326BA52CD}" type="parTrans" cxnId="{EFCAFDF5-14E8-4DEA-8E54-F8418B8E279A}">
      <dgm:prSet/>
      <dgm:spPr/>
      <dgm:t>
        <a:bodyPr/>
        <a:lstStyle/>
        <a:p>
          <a:endParaRPr lang="en-US"/>
        </a:p>
      </dgm:t>
    </dgm:pt>
    <dgm:pt modelId="{26587AED-F56F-4994-AC17-938FEE955ED0}" type="sibTrans" cxnId="{EFCAFDF5-14E8-4DEA-8E54-F8418B8E279A}">
      <dgm:prSet/>
      <dgm:spPr/>
      <dgm:t>
        <a:bodyPr/>
        <a:lstStyle/>
        <a:p>
          <a:endParaRPr lang="en-US"/>
        </a:p>
      </dgm:t>
    </dgm:pt>
    <dgm:pt modelId="{56BCF3D8-7889-4168-A961-ACADACBF1A88}" type="pres">
      <dgm:prSet presAssocID="{07FCB960-2108-40C7-9F2F-99E597F8912F}" presName="Name0" presStyleCnt="0">
        <dgm:presLayoutVars>
          <dgm:dir/>
          <dgm:resizeHandles val="exact"/>
        </dgm:presLayoutVars>
      </dgm:prSet>
      <dgm:spPr/>
    </dgm:pt>
    <dgm:pt modelId="{D26C4E1B-B545-4DFB-8099-90CC4B054B63}" type="pres">
      <dgm:prSet presAssocID="{26A545D1-6EF1-4210-BBF7-65C00C9F6869}" presName="node" presStyleLbl="node1" presStyleIdx="0" presStyleCnt="7">
        <dgm:presLayoutVars>
          <dgm:bulletEnabled val="1"/>
        </dgm:presLayoutVars>
      </dgm:prSet>
      <dgm:spPr/>
    </dgm:pt>
    <dgm:pt modelId="{AE076457-7511-4254-BF25-5609BE0C6D81}" type="pres">
      <dgm:prSet presAssocID="{98B9E697-71B8-4364-A2BF-4D32322B79BB}" presName="sibTrans" presStyleLbl="sibTrans1D1" presStyleIdx="0" presStyleCnt="6"/>
      <dgm:spPr/>
    </dgm:pt>
    <dgm:pt modelId="{DB83DED3-760C-4B34-B255-558B0E297AD1}" type="pres">
      <dgm:prSet presAssocID="{98B9E697-71B8-4364-A2BF-4D32322B79BB}" presName="connectorText" presStyleLbl="sibTrans1D1" presStyleIdx="0" presStyleCnt="6"/>
      <dgm:spPr/>
    </dgm:pt>
    <dgm:pt modelId="{A1E3E81F-B155-47B3-AFAA-96D759FAC390}" type="pres">
      <dgm:prSet presAssocID="{95F1E4C8-7851-4C6B-8802-1A4F5C4D90B0}" presName="node" presStyleLbl="node1" presStyleIdx="1" presStyleCnt="7">
        <dgm:presLayoutVars>
          <dgm:bulletEnabled val="1"/>
        </dgm:presLayoutVars>
      </dgm:prSet>
      <dgm:spPr/>
    </dgm:pt>
    <dgm:pt modelId="{E72B8C24-DB13-43B4-9F73-86B375A3FAD7}" type="pres">
      <dgm:prSet presAssocID="{24ED44F3-281A-4B07-8A4D-90616C49486B}" presName="sibTrans" presStyleLbl="sibTrans1D1" presStyleIdx="1" presStyleCnt="6"/>
      <dgm:spPr/>
    </dgm:pt>
    <dgm:pt modelId="{566A952D-7278-4D2B-B69E-BBBCADEFEFA4}" type="pres">
      <dgm:prSet presAssocID="{24ED44F3-281A-4B07-8A4D-90616C49486B}" presName="connectorText" presStyleLbl="sibTrans1D1" presStyleIdx="1" presStyleCnt="6"/>
      <dgm:spPr/>
    </dgm:pt>
    <dgm:pt modelId="{77FCA514-56E2-4B22-8897-1885C3C3F777}" type="pres">
      <dgm:prSet presAssocID="{BF280C4E-B8F1-49EA-8188-ECBFD979E5C5}" presName="node" presStyleLbl="node1" presStyleIdx="2" presStyleCnt="7">
        <dgm:presLayoutVars>
          <dgm:bulletEnabled val="1"/>
        </dgm:presLayoutVars>
      </dgm:prSet>
      <dgm:spPr/>
    </dgm:pt>
    <dgm:pt modelId="{4DF604A3-EC83-43F5-80D4-39172D6521E1}" type="pres">
      <dgm:prSet presAssocID="{36F1695C-7223-4365-86AC-473939D83AB2}" presName="sibTrans" presStyleLbl="sibTrans1D1" presStyleIdx="2" presStyleCnt="6"/>
      <dgm:spPr/>
    </dgm:pt>
    <dgm:pt modelId="{88D7CE7D-7B26-4EC3-A29A-3AF79B3FAA11}" type="pres">
      <dgm:prSet presAssocID="{36F1695C-7223-4365-86AC-473939D83AB2}" presName="connectorText" presStyleLbl="sibTrans1D1" presStyleIdx="2" presStyleCnt="6"/>
      <dgm:spPr/>
    </dgm:pt>
    <dgm:pt modelId="{0FA5CEB5-A415-441F-A118-103D47093DB1}" type="pres">
      <dgm:prSet presAssocID="{E81B87B8-7E77-4148-BA25-26C479653143}" presName="node" presStyleLbl="node1" presStyleIdx="3" presStyleCnt="7">
        <dgm:presLayoutVars>
          <dgm:bulletEnabled val="1"/>
        </dgm:presLayoutVars>
      </dgm:prSet>
      <dgm:spPr/>
    </dgm:pt>
    <dgm:pt modelId="{5503F26D-CC48-448B-92D2-0FD9592F25E7}" type="pres">
      <dgm:prSet presAssocID="{81E23158-7AD9-4D07-87BE-9B12E51892C9}" presName="sibTrans" presStyleLbl="sibTrans1D1" presStyleIdx="3" presStyleCnt="6"/>
      <dgm:spPr/>
    </dgm:pt>
    <dgm:pt modelId="{02296FA9-3AF6-4044-A473-811AFB260BDE}" type="pres">
      <dgm:prSet presAssocID="{81E23158-7AD9-4D07-87BE-9B12E51892C9}" presName="connectorText" presStyleLbl="sibTrans1D1" presStyleIdx="3" presStyleCnt="6"/>
      <dgm:spPr/>
    </dgm:pt>
    <dgm:pt modelId="{66107DF9-C2BC-4EF4-979D-1DAA0F81AC4A}" type="pres">
      <dgm:prSet presAssocID="{9EF9B7D5-411F-4997-8D25-F7EB43A57ED4}" presName="node" presStyleLbl="node1" presStyleIdx="4" presStyleCnt="7" custLinFactNeighborX="-8846">
        <dgm:presLayoutVars>
          <dgm:bulletEnabled val="1"/>
        </dgm:presLayoutVars>
      </dgm:prSet>
      <dgm:spPr/>
    </dgm:pt>
    <dgm:pt modelId="{B5D49313-7D13-4A7D-8FDA-8D5E9F7E0279}" type="pres">
      <dgm:prSet presAssocID="{AB61F40D-269D-4090-BDCA-0BB16BC6E362}" presName="sibTrans" presStyleLbl="sibTrans1D1" presStyleIdx="4" presStyleCnt="6"/>
      <dgm:spPr/>
    </dgm:pt>
    <dgm:pt modelId="{2FBAB3AC-26A2-4C4D-96D4-58FED58395BC}" type="pres">
      <dgm:prSet presAssocID="{AB61F40D-269D-4090-BDCA-0BB16BC6E362}" presName="connectorText" presStyleLbl="sibTrans1D1" presStyleIdx="4" presStyleCnt="6"/>
      <dgm:spPr/>
    </dgm:pt>
    <dgm:pt modelId="{0B7E76E8-547C-46A7-B3CB-3A092FDE5A1B}" type="pres">
      <dgm:prSet presAssocID="{3F695D36-DD40-40B6-B233-C8D22A794ED4}" presName="node" presStyleLbl="node1" presStyleIdx="5" presStyleCnt="7">
        <dgm:presLayoutVars>
          <dgm:bulletEnabled val="1"/>
        </dgm:presLayoutVars>
      </dgm:prSet>
      <dgm:spPr/>
    </dgm:pt>
    <dgm:pt modelId="{39B74065-D642-46B3-A505-487C5F0342CA}" type="pres">
      <dgm:prSet presAssocID="{6FE0F649-9CC9-48E4-957E-9F261295A7C6}" presName="sibTrans" presStyleLbl="sibTrans1D1" presStyleIdx="5" presStyleCnt="6"/>
      <dgm:spPr/>
    </dgm:pt>
    <dgm:pt modelId="{BF4BD3DA-F24A-4C52-90BD-943D5A47BCDB}" type="pres">
      <dgm:prSet presAssocID="{6FE0F649-9CC9-48E4-957E-9F261295A7C6}" presName="connectorText" presStyleLbl="sibTrans1D1" presStyleIdx="5" presStyleCnt="6"/>
      <dgm:spPr/>
    </dgm:pt>
    <dgm:pt modelId="{A171A077-CFC2-42D6-AB84-F119463CF6C8}" type="pres">
      <dgm:prSet presAssocID="{FDC695CC-7E4C-40C5-A5DD-3BCEDC147261}" presName="node" presStyleLbl="node1" presStyleIdx="6" presStyleCnt="7">
        <dgm:presLayoutVars>
          <dgm:bulletEnabled val="1"/>
        </dgm:presLayoutVars>
      </dgm:prSet>
      <dgm:spPr/>
    </dgm:pt>
  </dgm:ptLst>
  <dgm:cxnLst>
    <dgm:cxn modelId="{725E7D06-709D-424E-B4DF-19EB110D8D7B}" srcId="{07FCB960-2108-40C7-9F2F-99E597F8912F}" destId="{26A545D1-6EF1-4210-BBF7-65C00C9F6869}" srcOrd="0" destOrd="0" parTransId="{4BEB06F1-5078-4E24-9A1B-818444CDFAB6}" sibTransId="{98B9E697-71B8-4364-A2BF-4D32322B79BB}"/>
    <dgm:cxn modelId="{CA363F1C-3025-44C9-80A7-055136F7F020}" type="presOf" srcId="{FDC695CC-7E4C-40C5-A5DD-3BCEDC147261}" destId="{A171A077-CFC2-42D6-AB84-F119463CF6C8}" srcOrd="0" destOrd="0" presId="urn:microsoft.com/office/officeart/2016/7/layout/RepeatingBendingProcessNew"/>
    <dgm:cxn modelId="{C6E9C01F-AC0C-4248-9F78-816B6C172D9D}" type="presOf" srcId="{26A545D1-6EF1-4210-BBF7-65C00C9F6869}" destId="{D26C4E1B-B545-4DFB-8099-90CC4B054B63}" srcOrd="0" destOrd="0" presId="urn:microsoft.com/office/officeart/2016/7/layout/RepeatingBendingProcessNew"/>
    <dgm:cxn modelId="{E6FA8029-FB2A-4673-A919-D0F11F6B4E82}" srcId="{07FCB960-2108-40C7-9F2F-99E597F8912F}" destId="{E81B87B8-7E77-4148-BA25-26C479653143}" srcOrd="3" destOrd="0" parTransId="{F7E3D147-3A48-4ED3-A260-265EB15EA491}" sibTransId="{81E23158-7AD9-4D07-87BE-9B12E51892C9}"/>
    <dgm:cxn modelId="{3009765B-573C-4EA8-86FD-9F837B9C77FE}" srcId="{07FCB960-2108-40C7-9F2F-99E597F8912F}" destId="{95F1E4C8-7851-4C6B-8802-1A4F5C4D90B0}" srcOrd="1" destOrd="0" parTransId="{7DC99AAB-6818-4D96-B58C-668AD3010600}" sibTransId="{24ED44F3-281A-4B07-8A4D-90616C49486B}"/>
    <dgm:cxn modelId="{5874445E-C1B5-4EFE-A401-26FA140A0B7B}" srcId="{07FCB960-2108-40C7-9F2F-99E597F8912F}" destId="{3F695D36-DD40-40B6-B233-C8D22A794ED4}" srcOrd="5" destOrd="0" parTransId="{32FD04A4-2545-4043-92AA-C86E41EA2C4D}" sibTransId="{6FE0F649-9CC9-48E4-957E-9F261295A7C6}"/>
    <dgm:cxn modelId="{59058947-1ACA-4421-8F8B-53254984274E}" type="presOf" srcId="{3F695D36-DD40-40B6-B233-C8D22A794ED4}" destId="{0B7E76E8-547C-46A7-B3CB-3A092FDE5A1B}" srcOrd="0" destOrd="0" presId="urn:microsoft.com/office/officeart/2016/7/layout/RepeatingBendingProcessNew"/>
    <dgm:cxn modelId="{BB2F7F4B-FEE6-4BE3-BD51-31335492B86D}" type="presOf" srcId="{81E23158-7AD9-4D07-87BE-9B12E51892C9}" destId="{5503F26D-CC48-448B-92D2-0FD9592F25E7}" srcOrd="0" destOrd="0" presId="urn:microsoft.com/office/officeart/2016/7/layout/RepeatingBendingProcessNew"/>
    <dgm:cxn modelId="{0F273872-FF42-4294-BC44-7F448B948169}" type="presOf" srcId="{9EF9B7D5-411F-4997-8D25-F7EB43A57ED4}" destId="{66107DF9-C2BC-4EF4-979D-1DAA0F81AC4A}" srcOrd="0" destOrd="0" presId="urn:microsoft.com/office/officeart/2016/7/layout/RepeatingBendingProcessNew"/>
    <dgm:cxn modelId="{8BDC6453-01A6-4D82-B915-E7E39FF8D931}" type="presOf" srcId="{36F1695C-7223-4365-86AC-473939D83AB2}" destId="{88D7CE7D-7B26-4EC3-A29A-3AF79B3FAA11}" srcOrd="1" destOrd="0" presId="urn:microsoft.com/office/officeart/2016/7/layout/RepeatingBendingProcessNew"/>
    <dgm:cxn modelId="{758EC357-0A67-43AF-9B89-F48B6E60896E}" type="presOf" srcId="{98B9E697-71B8-4364-A2BF-4D32322B79BB}" destId="{DB83DED3-760C-4B34-B255-558B0E297AD1}" srcOrd="1" destOrd="0" presId="urn:microsoft.com/office/officeart/2016/7/layout/RepeatingBendingProcessNew"/>
    <dgm:cxn modelId="{38F4E68C-C370-4AD3-A94E-D9F162188970}" type="presOf" srcId="{24ED44F3-281A-4B07-8A4D-90616C49486B}" destId="{E72B8C24-DB13-43B4-9F73-86B375A3FAD7}" srcOrd="0" destOrd="0" presId="urn:microsoft.com/office/officeart/2016/7/layout/RepeatingBendingProcessNew"/>
    <dgm:cxn modelId="{41155192-91F9-4438-98E7-53432829EF0B}" type="presOf" srcId="{98B9E697-71B8-4364-A2BF-4D32322B79BB}" destId="{AE076457-7511-4254-BF25-5609BE0C6D81}" srcOrd="0" destOrd="0" presId="urn:microsoft.com/office/officeart/2016/7/layout/RepeatingBendingProcessNew"/>
    <dgm:cxn modelId="{C04A7893-58F2-415C-B950-7CDDDFFDC5C3}" type="presOf" srcId="{07FCB960-2108-40C7-9F2F-99E597F8912F}" destId="{56BCF3D8-7889-4168-A961-ACADACBF1A88}" srcOrd="0" destOrd="0" presId="urn:microsoft.com/office/officeart/2016/7/layout/RepeatingBendingProcessNew"/>
    <dgm:cxn modelId="{F8BABC98-914F-4D88-BD77-8403C0A6AF78}" type="presOf" srcId="{81E23158-7AD9-4D07-87BE-9B12E51892C9}" destId="{02296FA9-3AF6-4044-A473-811AFB260BDE}" srcOrd="1" destOrd="0" presId="urn:microsoft.com/office/officeart/2016/7/layout/RepeatingBendingProcessNew"/>
    <dgm:cxn modelId="{D05F9E99-2208-4927-8E54-50AD41545F71}" type="presOf" srcId="{36F1695C-7223-4365-86AC-473939D83AB2}" destId="{4DF604A3-EC83-43F5-80D4-39172D6521E1}" srcOrd="0" destOrd="0" presId="urn:microsoft.com/office/officeart/2016/7/layout/RepeatingBendingProcessNew"/>
    <dgm:cxn modelId="{2463BAA0-0230-47F0-B3AC-27A6A6E4FC8A}" type="presOf" srcId="{6FE0F649-9CC9-48E4-957E-9F261295A7C6}" destId="{39B74065-D642-46B3-A505-487C5F0342CA}" srcOrd="0" destOrd="0" presId="urn:microsoft.com/office/officeart/2016/7/layout/RepeatingBendingProcessNew"/>
    <dgm:cxn modelId="{95CDE6A0-C987-4DAB-9656-337F64EB9328}" type="presOf" srcId="{BF280C4E-B8F1-49EA-8188-ECBFD979E5C5}" destId="{77FCA514-56E2-4B22-8897-1885C3C3F777}" srcOrd="0" destOrd="0" presId="urn:microsoft.com/office/officeart/2016/7/layout/RepeatingBendingProcessNew"/>
    <dgm:cxn modelId="{9C948FB0-0721-48F0-9B24-744954AF6093}" type="presOf" srcId="{24ED44F3-281A-4B07-8A4D-90616C49486B}" destId="{566A952D-7278-4D2B-B69E-BBBCADEFEFA4}" srcOrd="1" destOrd="0" presId="urn:microsoft.com/office/officeart/2016/7/layout/RepeatingBendingProcessNew"/>
    <dgm:cxn modelId="{8E5086B8-4BCF-4F2D-AF6B-0F78098068F6}" type="presOf" srcId="{AB61F40D-269D-4090-BDCA-0BB16BC6E362}" destId="{2FBAB3AC-26A2-4C4D-96D4-58FED58395BC}" srcOrd="1" destOrd="0" presId="urn:microsoft.com/office/officeart/2016/7/layout/RepeatingBendingProcessNew"/>
    <dgm:cxn modelId="{86A90ABC-5CBF-4012-998E-9E4CA1110FC1}" type="presOf" srcId="{AB61F40D-269D-4090-BDCA-0BB16BC6E362}" destId="{B5D49313-7D13-4A7D-8FDA-8D5E9F7E0279}" srcOrd="0" destOrd="0" presId="urn:microsoft.com/office/officeart/2016/7/layout/RepeatingBendingProcessNew"/>
    <dgm:cxn modelId="{537904BF-FA84-42AC-9401-B96FDE06E408}" type="presOf" srcId="{6FE0F649-9CC9-48E4-957E-9F261295A7C6}" destId="{BF4BD3DA-F24A-4C52-90BD-943D5A47BCDB}" srcOrd="1" destOrd="0" presId="urn:microsoft.com/office/officeart/2016/7/layout/RepeatingBendingProcessNew"/>
    <dgm:cxn modelId="{D42BFCCB-2216-45E5-B176-53DF23FB1877}" type="presOf" srcId="{E81B87B8-7E77-4148-BA25-26C479653143}" destId="{0FA5CEB5-A415-441F-A118-103D47093DB1}" srcOrd="0" destOrd="0" presId="urn:microsoft.com/office/officeart/2016/7/layout/RepeatingBendingProcessNew"/>
    <dgm:cxn modelId="{94FBBCE7-BB46-43E2-9D98-655CA0D036D6}" srcId="{07FCB960-2108-40C7-9F2F-99E597F8912F}" destId="{9EF9B7D5-411F-4997-8D25-F7EB43A57ED4}" srcOrd="4" destOrd="0" parTransId="{672025A0-9EB1-4F60-BAAC-4A29D755FE58}" sibTransId="{AB61F40D-269D-4090-BDCA-0BB16BC6E362}"/>
    <dgm:cxn modelId="{FC0225E8-8845-4706-987C-EF7E516308F3}" srcId="{07FCB960-2108-40C7-9F2F-99E597F8912F}" destId="{BF280C4E-B8F1-49EA-8188-ECBFD979E5C5}" srcOrd="2" destOrd="0" parTransId="{93B8D522-74C1-44C6-ABBA-6206E1CABA80}" sibTransId="{36F1695C-7223-4365-86AC-473939D83AB2}"/>
    <dgm:cxn modelId="{14BA4FED-345E-42DF-BC2B-DC986234A932}" type="presOf" srcId="{95F1E4C8-7851-4C6B-8802-1A4F5C4D90B0}" destId="{A1E3E81F-B155-47B3-AFAA-96D759FAC390}" srcOrd="0" destOrd="0" presId="urn:microsoft.com/office/officeart/2016/7/layout/RepeatingBendingProcessNew"/>
    <dgm:cxn modelId="{EFCAFDF5-14E8-4DEA-8E54-F8418B8E279A}" srcId="{07FCB960-2108-40C7-9F2F-99E597F8912F}" destId="{FDC695CC-7E4C-40C5-A5DD-3BCEDC147261}" srcOrd="6" destOrd="0" parTransId="{994837F8-606F-4C50-B137-657326BA52CD}" sibTransId="{26587AED-F56F-4994-AC17-938FEE955ED0}"/>
    <dgm:cxn modelId="{B394200E-C6D5-4454-9FEC-1D29CC1390A9}" type="presParOf" srcId="{56BCF3D8-7889-4168-A961-ACADACBF1A88}" destId="{D26C4E1B-B545-4DFB-8099-90CC4B054B63}" srcOrd="0" destOrd="0" presId="urn:microsoft.com/office/officeart/2016/7/layout/RepeatingBendingProcessNew"/>
    <dgm:cxn modelId="{2F3BAAFC-0901-433F-BCBE-E51A5B1FF3BB}" type="presParOf" srcId="{56BCF3D8-7889-4168-A961-ACADACBF1A88}" destId="{AE076457-7511-4254-BF25-5609BE0C6D81}" srcOrd="1" destOrd="0" presId="urn:microsoft.com/office/officeart/2016/7/layout/RepeatingBendingProcessNew"/>
    <dgm:cxn modelId="{4477CD8A-8F90-4CFB-AC69-BBDA2CCC8BD7}" type="presParOf" srcId="{AE076457-7511-4254-BF25-5609BE0C6D81}" destId="{DB83DED3-760C-4B34-B255-558B0E297AD1}" srcOrd="0" destOrd="0" presId="urn:microsoft.com/office/officeart/2016/7/layout/RepeatingBendingProcessNew"/>
    <dgm:cxn modelId="{E53F335F-06D1-4139-B5F5-A6A39140A8AA}" type="presParOf" srcId="{56BCF3D8-7889-4168-A961-ACADACBF1A88}" destId="{A1E3E81F-B155-47B3-AFAA-96D759FAC390}" srcOrd="2" destOrd="0" presId="urn:microsoft.com/office/officeart/2016/7/layout/RepeatingBendingProcessNew"/>
    <dgm:cxn modelId="{2D3718D4-0A7D-4728-8F4E-2F903D22DAA0}" type="presParOf" srcId="{56BCF3D8-7889-4168-A961-ACADACBF1A88}" destId="{E72B8C24-DB13-43B4-9F73-86B375A3FAD7}" srcOrd="3" destOrd="0" presId="urn:microsoft.com/office/officeart/2016/7/layout/RepeatingBendingProcessNew"/>
    <dgm:cxn modelId="{E5D808FC-41CC-47BA-A02C-2EA0C3977D55}" type="presParOf" srcId="{E72B8C24-DB13-43B4-9F73-86B375A3FAD7}" destId="{566A952D-7278-4D2B-B69E-BBBCADEFEFA4}" srcOrd="0" destOrd="0" presId="urn:microsoft.com/office/officeart/2016/7/layout/RepeatingBendingProcessNew"/>
    <dgm:cxn modelId="{0B5FDA76-FF59-4822-8602-A770BD1BF98E}" type="presParOf" srcId="{56BCF3D8-7889-4168-A961-ACADACBF1A88}" destId="{77FCA514-56E2-4B22-8897-1885C3C3F777}" srcOrd="4" destOrd="0" presId="urn:microsoft.com/office/officeart/2016/7/layout/RepeatingBendingProcessNew"/>
    <dgm:cxn modelId="{781DC85B-DAB1-45C2-979F-F6F4105C8685}" type="presParOf" srcId="{56BCF3D8-7889-4168-A961-ACADACBF1A88}" destId="{4DF604A3-EC83-43F5-80D4-39172D6521E1}" srcOrd="5" destOrd="0" presId="urn:microsoft.com/office/officeart/2016/7/layout/RepeatingBendingProcessNew"/>
    <dgm:cxn modelId="{F62F12F8-D649-4485-97D0-62C2081D660E}" type="presParOf" srcId="{4DF604A3-EC83-43F5-80D4-39172D6521E1}" destId="{88D7CE7D-7B26-4EC3-A29A-3AF79B3FAA11}" srcOrd="0" destOrd="0" presId="urn:microsoft.com/office/officeart/2016/7/layout/RepeatingBendingProcessNew"/>
    <dgm:cxn modelId="{B33D5A8F-EFF7-4657-81DA-91AF9AC49B75}" type="presParOf" srcId="{56BCF3D8-7889-4168-A961-ACADACBF1A88}" destId="{0FA5CEB5-A415-441F-A118-103D47093DB1}" srcOrd="6" destOrd="0" presId="urn:microsoft.com/office/officeart/2016/7/layout/RepeatingBendingProcessNew"/>
    <dgm:cxn modelId="{476CBCD6-90D6-4DC8-8594-82A1E001EC12}" type="presParOf" srcId="{56BCF3D8-7889-4168-A961-ACADACBF1A88}" destId="{5503F26D-CC48-448B-92D2-0FD9592F25E7}" srcOrd="7" destOrd="0" presId="urn:microsoft.com/office/officeart/2016/7/layout/RepeatingBendingProcessNew"/>
    <dgm:cxn modelId="{1976CDC7-D8D0-4986-9212-0BF266F71A4B}" type="presParOf" srcId="{5503F26D-CC48-448B-92D2-0FD9592F25E7}" destId="{02296FA9-3AF6-4044-A473-811AFB260BDE}" srcOrd="0" destOrd="0" presId="urn:microsoft.com/office/officeart/2016/7/layout/RepeatingBendingProcessNew"/>
    <dgm:cxn modelId="{F941CDE1-1E62-4A5D-A32A-BCFDD20C1148}" type="presParOf" srcId="{56BCF3D8-7889-4168-A961-ACADACBF1A88}" destId="{66107DF9-C2BC-4EF4-979D-1DAA0F81AC4A}" srcOrd="8" destOrd="0" presId="urn:microsoft.com/office/officeart/2016/7/layout/RepeatingBendingProcessNew"/>
    <dgm:cxn modelId="{1AF01580-539F-4CD6-9DF5-53BA8594C416}" type="presParOf" srcId="{56BCF3D8-7889-4168-A961-ACADACBF1A88}" destId="{B5D49313-7D13-4A7D-8FDA-8D5E9F7E0279}" srcOrd="9" destOrd="0" presId="urn:microsoft.com/office/officeart/2016/7/layout/RepeatingBendingProcessNew"/>
    <dgm:cxn modelId="{623D74E0-FA6A-40FD-8D8B-63D0A9E5DA0B}" type="presParOf" srcId="{B5D49313-7D13-4A7D-8FDA-8D5E9F7E0279}" destId="{2FBAB3AC-26A2-4C4D-96D4-58FED58395BC}" srcOrd="0" destOrd="0" presId="urn:microsoft.com/office/officeart/2016/7/layout/RepeatingBendingProcessNew"/>
    <dgm:cxn modelId="{59FD1FEF-3A18-49BE-91BB-BB012D9AB252}" type="presParOf" srcId="{56BCF3D8-7889-4168-A961-ACADACBF1A88}" destId="{0B7E76E8-547C-46A7-B3CB-3A092FDE5A1B}" srcOrd="10" destOrd="0" presId="urn:microsoft.com/office/officeart/2016/7/layout/RepeatingBendingProcessNew"/>
    <dgm:cxn modelId="{8F7808C1-BB5A-450A-936B-E1FB0D3A4527}" type="presParOf" srcId="{56BCF3D8-7889-4168-A961-ACADACBF1A88}" destId="{39B74065-D642-46B3-A505-487C5F0342CA}" srcOrd="11" destOrd="0" presId="urn:microsoft.com/office/officeart/2016/7/layout/RepeatingBendingProcessNew"/>
    <dgm:cxn modelId="{6CEBA023-C6D9-43BC-B101-CB28D23961CD}" type="presParOf" srcId="{39B74065-D642-46B3-A505-487C5F0342CA}" destId="{BF4BD3DA-F24A-4C52-90BD-943D5A47BCDB}" srcOrd="0" destOrd="0" presId="urn:microsoft.com/office/officeart/2016/7/layout/RepeatingBendingProcessNew"/>
    <dgm:cxn modelId="{896AD55B-AFC3-4477-9851-0107CF29750E}" type="presParOf" srcId="{56BCF3D8-7889-4168-A961-ACADACBF1A88}" destId="{A171A077-CFC2-42D6-AB84-F119463CF6C8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BAD97D-3E2E-42AB-A059-3B3828785B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8BAF1F-2FE2-4856-9CE4-732BEFE330C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Missão: Oferecendo alimentos saborosos, com qualidade, inovação e a preços acessíveis.</a:t>
          </a:r>
          <a:endParaRPr lang="en-US"/>
        </a:p>
      </dgm:t>
    </dgm:pt>
    <dgm:pt modelId="{34251C82-88FC-4159-95E7-61A5D65D51B1}" type="parTrans" cxnId="{4F2D52E8-DE72-44EE-BF8F-5EBA2BAA9B04}">
      <dgm:prSet/>
      <dgm:spPr/>
      <dgm:t>
        <a:bodyPr/>
        <a:lstStyle/>
        <a:p>
          <a:endParaRPr lang="en-US"/>
        </a:p>
      </dgm:t>
    </dgm:pt>
    <dgm:pt modelId="{03CFE9F6-A85B-4AEE-BBCC-AAC106278FE3}" type="sibTrans" cxnId="{4F2D52E8-DE72-44EE-BF8F-5EBA2BAA9B04}">
      <dgm:prSet/>
      <dgm:spPr/>
      <dgm:t>
        <a:bodyPr/>
        <a:lstStyle/>
        <a:p>
          <a:endParaRPr lang="en-US"/>
        </a:p>
      </dgm:t>
    </dgm:pt>
    <dgm:pt modelId="{DFEFF18F-A5E0-4544-8971-90C9D6B9B7A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Visão: Sermos uma das maiores empresas de alimentos do mundo</a:t>
          </a:r>
          <a:endParaRPr lang="en-US"/>
        </a:p>
      </dgm:t>
    </dgm:pt>
    <dgm:pt modelId="{22B4CAD5-7B05-4E05-BB7C-F0D3BD3CAFE3}" type="parTrans" cxnId="{77B60011-2962-428F-86F2-DFF0DCB1B37D}">
      <dgm:prSet/>
      <dgm:spPr/>
      <dgm:t>
        <a:bodyPr/>
        <a:lstStyle/>
        <a:p>
          <a:endParaRPr lang="en-US"/>
        </a:p>
      </dgm:t>
    </dgm:pt>
    <dgm:pt modelId="{8E395A6D-FC84-4273-9A00-547B2809B14B}" type="sibTrans" cxnId="{77B60011-2962-428F-86F2-DFF0DCB1B37D}">
      <dgm:prSet/>
      <dgm:spPr/>
      <dgm:t>
        <a:bodyPr/>
        <a:lstStyle/>
        <a:p>
          <a:endParaRPr lang="en-US"/>
        </a:p>
      </dgm:t>
    </dgm:pt>
    <dgm:pt modelId="{9F0D6DB9-C75A-41B6-9F87-274C1E86C5A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Valores: Integridade,  Foco no consumidor, respeito pelas pessoas, alta performance, qualidade, espírito de inovação, desenvolvimento sustentável, visão global, agilidade local, compromisso com a diversidade e aceitação. </a:t>
          </a:r>
          <a:endParaRPr lang="en-US"/>
        </a:p>
      </dgm:t>
    </dgm:pt>
    <dgm:pt modelId="{ADFCCC16-53F3-45D1-A129-EE266A0A1BAE}" type="parTrans" cxnId="{C335C1D6-7112-4E64-B47A-7D714BB7C5D4}">
      <dgm:prSet/>
      <dgm:spPr/>
      <dgm:t>
        <a:bodyPr/>
        <a:lstStyle/>
        <a:p>
          <a:endParaRPr lang="en-US"/>
        </a:p>
      </dgm:t>
    </dgm:pt>
    <dgm:pt modelId="{2056A02E-A03C-4ACC-898A-D45494C54D4D}" type="sibTrans" cxnId="{C335C1D6-7112-4E64-B47A-7D714BB7C5D4}">
      <dgm:prSet/>
      <dgm:spPr/>
      <dgm:t>
        <a:bodyPr/>
        <a:lstStyle/>
        <a:p>
          <a:endParaRPr lang="en-US"/>
        </a:p>
      </dgm:t>
    </dgm:pt>
    <dgm:pt modelId="{1ED85A26-AF79-4C4A-A74A-3C0D0353F878}" type="pres">
      <dgm:prSet presAssocID="{29BAD97D-3E2E-42AB-A059-3B3828785BA6}" presName="linear" presStyleCnt="0">
        <dgm:presLayoutVars>
          <dgm:animLvl val="lvl"/>
          <dgm:resizeHandles val="exact"/>
        </dgm:presLayoutVars>
      </dgm:prSet>
      <dgm:spPr/>
    </dgm:pt>
    <dgm:pt modelId="{3014F161-B7A9-4790-B688-6D3E8AF3600A}" type="pres">
      <dgm:prSet presAssocID="{CB8BAF1F-2FE2-4856-9CE4-732BEFE330C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69FD104-1F7B-499E-AFED-B610D0597E2E}" type="pres">
      <dgm:prSet presAssocID="{03CFE9F6-A85B-4AEE-BBCC-AAC106278FE3}" presName="spacer" presStyleCnt="0"/>
      <dgm:spPr/>
    </dgm:pt>
    <dgm:pt modelId="{7F943C8B-1B4D-46F8-A92C-F7A5EE3E34B8}" type="pres">
      <dgm:prSet presAssocID="{DFEFF18F-A5E0-4544-8971-90C9D6B9B7AE}" presName="parentText" presStyleLbl="node1" presStyleIdx="1" presStyleCnt="3" custLinFactNeighborX="-322" custLinFactNeighborY="82811">
        <dgm:presLayoutVars>
          <dgm:chMax val="0"/>
          <dgm:bulletEnabled val="1"/>
        </dgm:presLayoutVars>
      </dgm:prSet>
      <dgm:spPr/>
    </dgm:pt>
    <dgm:pt modelId="{57D54E7D-CED4-491F-A1E1-B942B1EE6892}" type="pres">
      <dgm:prSet presAssocID="{8E395A6D-FC84-4273-9A00-547B2809B14B}" presName="spacer" presStyleCnt="0"/>
      <dgm:spPr/>
    </dgm:pt>
    <dgm:pt modelId="{FB6CAB7A-109F-48FB-AEF1-BA762D61744B}" type="pres">
      <dgm:prSet presAssocID="{9F0D6DB9-C75A-41B6-9F87-274C1E86C5A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7B60011-2962-428F-86F2-DFF0DCB1B37D}" srcId="{29BAD97D-3E2E-42AB-A059-3B3828785BA6}" destId="{DFEFF18F-A5E0-4544-8971-90C9D6B9B7AE}" srcOrd="1" destOrd="0" parTransId="{22B4CAD5-7B05-4E05-BB7C-F0D3BD3CAFE3}" sibTransId="{8E395A6D-FC84-4273-9A00-547B2809B14B}"/>
    <dgm:cxn modelId="{E7BBE163-8346-4454-92B0-4475EDCA9DB6}" type="presOf" srcId="{DFEFF18F-A5E0-4544-8971-90C9D6B9B7AE}" destId="{7F943C8B-1B4D-46F8-A92C-F7A5EE3E34B8}" srcOrd="0" destOrd="0" presId="urn:microsoft.com/office/officeart/2005/8/layout/vList2"/>
    <dgm:cxn modelId="{9E07E74F-5632-43A7-9060-252BAF832027}" type="presOf" srcId="{CB8BAF1F-2FE2-4856-9CE4-732BEFE330C3}" destId="{3014F161-B7A9-4790-B688-6D3E8AF3600A}" srcOrd="0" destOrd="0" presId="urn:microsoft.com/office/officeart/2005/8/layout/vList2"/>
    <dgm:cxn modelId="{AA3125C3-7F7A-4D30-B4BD-C8920369D5E0}" type="presOf" srcId="{29BAD97D-3E2E-42AB-A059-3B3828785BA6}" destId="{1ED85A26-AF79-4C4A-A74A-3C0D0353F878}" srcOrd="0" destOrd="0" presId="urn:microsoft.com/office/officeart/2005/8/layout/vList2"/>
    <dgm:cxn modelId="{C335C1D6-7112-4E64-B47A-7D714BB7C5D4}" srcId="{29BAD97D-3E2E-42AB-A059-3B3828785BA6}" destId="{9F0D6DB9-C75A-41B6-9F87-274C1E86C5A0}" srcOrd="2" destOrd="0" parTransId="{ADFCCC16-53F3-45D1-A129-EE266A0A1BAE}" sibTransId="{2056A02E-A03C-4ACC-898A-D45494C54D4D}"/>
    <dgm:cxn modelId="{4F2D52E8-DE72-44EE-BF8F-5EBA2BAA9B04}" srcId="{29BAD97D-3E2E-42AB-A059-3B3828785BA6}" destId="{CB8BAF1F-2FE2-4856-9CE4-732BEFE330C3}" srcOrd="0" destOrd="0" parTransId="{34251C82-88FC-4159-95E7-61A5D65D51B1}" sibTransId="{03CFE9F6-A85B-4AEE-BBCC-AAC106278FE3}"/>
    <dgm:cxn modelId="{C80AA9EE-13E6-49CC-A335-526F13DC4634}" type="presOf" srcId="{9F0D6DB9-C75A-41B6-9F87-274C1E86C5A0}" destId="{FB6CAB7A-109F-48FB-AEF1-BA762D61744B}" srcOrd="0" destOrd="0" presId="urn:microsoft.com/office/officeart/2005/8/layout/vList2"/>
    <dgm:cxn modelId="{D69BE0DA-91BC-4FD3-89AB-16087E46AEED}" type="presParOf" srcId="{1ED85A26-AF79-4C4A-A74A-3C0D0353F878}" destId="{3014F161-B7A9-4790-B688-6D3E8AF3600A}" srcOrd="0" destOrd="0" presId="urn:microsoft.com/office/officeart/2005/8/layout/vList2"/>
    <dgm:cxn modelId="{B59CCC40-5771-4B9F-9A21-3C954353DADA}" type="presParOf" srcId="{1ED85A26-AF79-4C4A-A74A-3C0D0353F878}" destId="{B69FD104-1F7B-499E-AFED-B610D0597E2E}" srcOrd="1" destOrd="0" presId="urn:microsoft.com/office/officeart/2005/8/layout/vList2"/>
    <dgm:cxn modelId="{98EB5B03-C92B-415B-A29C-BCBDD7970713}" type="presParOf" srcId="{1ED85A26-AF79-4C4A-A74A-3C0D0353F878}" destId="{7F943C8B-1B4D-46F8-A92C-F7A5EE3E34B8}" srcOrd="2" destOrd="0" presId="urn:microsoft.com/office/officeart/2005/8/layout/vList2"/>
    <dgm:cxn modelId="{AFB7B448-710D-49CC-A661-8923DECAD1E9}" type="presParOf" srcId="{1ED85A26-AF79-4C4A-A74A-3C0D0353F878}" destId="{57D54E7D-CED4-491F-A1E1-B942B1EE6892}" srcOrd="3" destOrd="0" presId="urn:microsoft.com/office/officeart/2005/8/layout/vList2"/>
    <dgm:cxn modelId="{27751173-1D3B-4E5B-8F15-C5F3E7C5359F}" type="presParOf" srcId="{1ED85A26-AF79-4C4A-A74A-3C0D0353F878}" destId="{FB6CAB7A-109F-48FB-AEF1-BA762D61744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51810-E236-4780-84B0-45618AA4663F}">
      <dsp:nvSpPr>
        <dsp:cNvPr id="0" name=""/>
        <dsp:cNvSpPr/>
      </dsp:nvSpPr>
      <dsp:spPr>
        <a:xfrm>
          <a:off x="0" y="603203"/>
          <a:ext cx="5952344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A BRF atua do setor alimentício.</a:t>
          </a:r>
          <a:endParaRPr lang="en-US" sz="2000" kern="1200"/>
        </a:p>
      </dsp:txBody>
      <dsp:txXfrm>
        <a:off x="38784" y="641987"/>
        <a:ext cx="5874776" cy="716935"/>
      </dsp:txXfrm>
    </dsp:sp>
    <dsp:sp modelId="{8EDE822F-9EEE-4FB4-B842-A3F7F7BBFE47}">
      <dsp:nvSpPr>
        <dsp:cNvPr id="0" name=""/>
        <dsp:cNvSpPr/>
      </dsp:nvSpPr>
      <dsp:spPr>
        <a:xfrm>
          <a:off x="0" y="1455306"/>
          <a:ext cx="5952344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Maior produtora de frangos e suínos do Brasil, atuando na produção de carnes in natura e congeladas.</a:t>
          </a:r>
          <a:endParaRPr lang="en-US" sz="2000" kern="1200" dirty="0"/>
        </a:p>
      </dsp:txBody>
      <dsp:txXfrm>
        <a:off x="38784" y="1494090"/>
        <a:ext cx="5874776" cy="716935"/>
      </dsp:txXfrm>
    </dsp:sp>
    <dsp:sp modelId="{DD100AE8-6BF2-4AEB-AB22-553036911435}">
      <dsp:nvSpPr>
        <dsp:cNvPr id="0" name=""/>
        <dsp:cNvSpPr/>
      </dsp:nvSpPr>
      <dsp:spPr>
        <a:xfrm>
          <a:off x="0" y="2307410"/>
          <a:ext cx="5952344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Alimentos industrializados como embutidos, congelados e margarina.</a:t>
          </a:r>
          <a:endParaRPr lang="en-US" sz="2000" kern="1200"/>
        </a:p>
      </dsp:txBody>
      <dsp:txXfrm>
        <a:off x="38784" y="2346194"/>
        <a:ext cx="5874776" cy="716935"/>
      </dsp:txXfrm>
    </dsp:sp>
    <dsp:sp modelId="{FD25C02D-30F7-4213-B236-00EF3982393E}">
      <dsp:nvSpPr>
        <dsp:cNvPr id="0" name=""/>
        <dsp:cNvSpPr/>
      </dsp:nvSpPr>
      <dsp:spPr>
        <a:xfrm>
          <a:off x="0" y="3159513"/>
          <a:ext cx="5952344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A empresa tem uma unidade de negócio voltada para ingredientes, a BRF </a:t>
          </a:r>
          <a:r>
            <a:rPr lang="pt-BR" sz="2000" kern="1200" dirty="0" err="1"/>
            <a:t>Ingredients</a:t>
          </a:r>
          <a:r>
            <a:rPr lang="pt-BR" sz="2000" kern="1200" dirty="0"/>
            <a:t>.</a:t>
          </a:r>
          <a:endParaRPr lang="en-US" sz="2000" kern="1200" dirty="0"/>
        </a:p>
      </dsp:txBody>
      <dsp:txXfrm>
        <a:off x="38784" y="3198297"/>
        <a:ext cx="5874776" cy="716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076457-7511-4254-BF25-5609BE0C6D81}">
      <dsp:nvSpPr>
        <dsp:cNvPr id="0" name=""/>
        <dsp:cNvSpPr/>
      </dsp:nvSpPr>
      <dsp:spPr>
        <a:xfrm>
          <a:off x="1798215" y="445833"/>
          <a:ext cx="3445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527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61101" y="489675"/>
        <a:ext cx="18756" cy="3754"/>
      </dsp:txXfrm>
    </dsp:sp>
    <dsp:sp modelId="{D26C4E1B-B545-4DFB-8099-90CC4B054B63}">
      <dsp:nvSpPr>
        <dsp:cNvPr id="0" name=""/>
        <dsp:cNvSpPr/>
      </dsp:nvSpPr>
      <dsp:spPr>
        <a:xfrm>
          <a:off x="169024" y="2255"/>
          <a:ext cx="1630990" cy="9785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20" tIns="83890" rIns="79920" bIns="8389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Presente em mais de 117 países.</a:t>
          </a:r>
          <a:endParaRPr lang="en-US" sz="1200" kern="1200"/>
        </a:p>
      </dsp:txBody>
      <dsp:txXfrm>
        <a:off x="169024" y="2255"/>
        <a:ext cx="1630990" cy="978594"/>
      </dsp:txXfrm>
    </dsp:sp>
    <dsp:sp modelId="{E72B8C24-DB13-43B4-9F73-86B375A3FAD7}">
      <dsp:nvSpPr>
        <dsp:cNvPr id="0" name=""/>
        <dsp:cNvSpPr/>
      </dsp:nvSpPr>
      <dsp:spPr>
        <a:xfrm>
          <a:off x="3804334" y="445833"/>
          <a:ext cx="3445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527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67220" y="489675"/>
        <a:ext cx="18756" cy="3754"/>
      </dsp:txXfrm>
    </dsp:sp>
    <dsp:sp modelId="{A1E3E81F-B155-47B3-AFAA-96D759FAC390}">
      <dsp:nvSpPr>
        <dsp:cNvPr id="0" name=""/>
        <dsp:cNvSpPr/>
      </dsp:nvSpPr>
      <dsp:spPr>
        <a:xfrm>
          <a:off x="2175143" y="2255"/>
          <a:ext cx="1630990" cy="9785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20" tIns="83890" rIns="79920" bIns="8389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Conta com 22 centros de distribuição e 35 plantas industriais no Brasil.</a:t>
          </a:r>
          <a:endParaRPr lang="en-US" sz="1200" kern="1200"/>
        </a:p>
      </dsp:txBody>
      <dsp:txXfrm>
        <a:off x="2175143" y="2255"/>
        <a:ext cx="1630990" cy="978594"/>
      </dsp:txXfrm>
    </dsp:sp>
    <dsp:sp modelId="{4DF604A3-EC83-43F5-80D4-39172D6521E1}">
      <dsp:nvSpPr>
        <dsp:cNvPr id="0" name=""/>
        <dsp:cNvSpPr/>
      </dsp:nvSpPr>
      <dsp:spPr>
        <a:xfrm>
          <a:off x="984520" y="979050"/>
          <a:ext cx="4012237" cy="344527"/>
        </a:xfrm>
        <a:custGeom>
          <a:avLst/>
          <a:gdLst/>
          <a:ahLst/>
          <a:cxnLst/>
          <a:rect l="0" t="0" r="0" b="0"/>
          <a:pathLst>
            <a:path>
              <a:moveTo>
                <a:pt x="4012237" y="0"/>
              </a:moveTo>
              <a:lnTo>
                <a:pt x="4012237" y="189363"/>
              </a:lnTo>
              <a:lnTo>
                <a:pt x="0" y="189363"/>
              </a:lnTo>
              <a:lnTo>
                <a:pt x="0" y="344527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89895" y="1149436"/>
        <a:ext cx="201486" cy="3754"/>
      </dsp:txXfrm>
    </dsp:sp>
    <dsp:sp modelId="{77FCA514-56E2-4B22-8897-1885C3C3F777}">
      <dsp:nvSpPr>
        <dsp:cNvPr id="0" name=""/>
        <dsp:cNvSpPr/>
      </dsp:nvSpPr>
      <dsp:spPr>
        <a:xfrm>
          <a:off x="4181262" y="2255"/>
          <a:ext cx="1630990" cy="9785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20" tIns="83890" rIns="79920" bIns="8389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Brasil: é a região de maior valor, alvo de investimento em marcas, inovação e eficiência operacional</a:t>
          </a:r>
          <a:endParaRPr lang="en-US" sz="1200" kern="1200"/>
        </a:p>
      </dsp:txBody>
      <dsp:txXfrm>
        <a:off x="4181262" y="2255"/>
        <a:ext cx="1630990" cy="978594"/>
      </dsp:txXfrm>
    </dsp:sp>
    <dsp:sp modelId="{5503F26D-CC48-448B-92D2-0FD9592F25E7}">
      <dsp:nvSpPr>
        <dsp:cNvPr id="0" name=""/>
        <dsp:cNvSpPr/>
      </dsp:nvSpPr>
      <dsp:spPr>
        <a:xfrm>
          <a:off x="1798215" y="1799555"/>
          <a:ext cx="200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250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92569" y="1843398"/>
        <a:ext cx="11542" cy="3754"/>
      </dsp:txXfrm>
    </dsp:sp>
    <dsp:sp modelId="{0FA5CEB5-A415-441F-A118-103D47093DB1}">
      <dsp:nvSpPr>
        <dsp:cNvPr id="0" name=""/>
        <dsp:cNvSpPr/>
      </dsp:nvSpPr>
      <dsp:spPr>
        <a:xfrm>
          <a:off x="169024" y="1355978"/>
          <a:ext cx="1630990" cy="9785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20" tIns="83890" rIns="79920" bIns="8389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Américas: mercados com alto potencial de crescimento.</a:t>
          </a:r>
          <a:endParaRPr lang="en-US" sz="1200" kern="1200"/>
        </a:p>
      </dsp:txBody>
      <dsp:txXfrm>
        <a:off x="169024" y="1355978"/>
        <a:ext cx="1630990" cy="978594"/>
      </dsp:txXfrm>
    </dsp:sp>
    <dsp:sp modelId="{B5D49313-7D13-4A7D-8FDA-8D5E9F7E0279}">
      <dsp:nvSpPr>
        <dsp:cNvPr id="0" name=""/>
        <dsp:cNvSpPr/>
      </dsp:nvSpPr>
      <dsp:spPr>
        <a:xfrm>
          <a:off x="3660056" y="1799555"/>
          <a:ext cx="4888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8805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91474" y="1843398"/>
        <a:ext cx="25970" cy="3754"/>
      </dsp:txXfrm>
    </dsp:sp>
    <dsp:sp modelId="{66107DF9-C2BC-4EF4-979D-1DAA0F81AC4A}">
      <dsp:nvSpPr>
        <dsp:cNvPr id="0" name=""/>
        <dsp:cNvSpPr/>
      </dsp:nvSpPr>
      <dsp:spPr>
        <a:xfrm>
          <a:off x="2030866" y="1355978"/>
          <a:ext cx="1630990" cy="97859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20" tIns="83890" rIns="79920" bIns="8389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Europa: explora crescimento e inovação</a:t>
          </a:r>
          <a:endParaRPr lang="en-US" sz="1200" kern="1200"/>
        </a:p>
      </dsp:txBody>
      <dsp:txXfrm>
        <a:off x="2030866" y="1355978"/>
        <a:ext cx="1630990" cy="978594"/>
      </dsp:txXfrm>
    </dsp:sp>
    <dsp:sp modelId="{39B74065-D642-46B3-A505-487C5F0342CA}">
      <dsp:nvSpPr>
        <dsp:cNvPr id="0" name=""/>
        <dsp:cNvSpPr/>
      </dsp:nvSpPr>
      <dsp:spPr>
        <a:xfrm>
          <a:off x="984520" y="2332772"/>
          <a:ext cx="4012237" cy="344527"/>
        </a:xfrm>
        <a:custGeom>
          <a:avLst/>
          <a:gdLst/>
          <a:ahLst/>
          <a:cxnLst/>
          <a:rect l="0" t="0" r="0" b="0"/>
          <a:pathLst>
            <a:path>
              <a:moveTo>
                <a:pt x="4012237" y="0"/>
              </a:moveTo>
              <a:lnTo>
                <a:pt x="4012237" y="189363"/>
              </a:lnTo>
              <a:lnTo>
                <a:pt x="0" y="189363"/>
              </a:lnTo>
              <a:lnTo>
                <a:pt x="0" y="344527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89895" y="2503159"/>
        <a:ext cx="201486" cy="3754"/>
      </dsp:txXfrm>
    </dsp:sp>
    <dsp:sp modelId="{0B7E76E8-547C-46A7-B3CB-3A092FDE5A1B}">
      <dsp:nvSpPr>
        <dsp:cNvPr id="0" name=""/>
        <dsp:cNvSpPr/>
      </dsp:nvSpPr>
      <dsp:spPr>
        <a:xfrm>
          <a:off x="4181262" y="1355978"/>
          <a:ext cx="1630990" cy="9785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20" tIns="83890" rIns="79920" bIns="8389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Asia: região de alta complexidade.</a:t>
          </a:r>
          <a:endParaRPr lang="en-US" sz="1200" kern="1200"/>
        </a:p>
      </dsp:txBody>
      <dsp:txXfrm>
        <a:off x="4181262" y="1355978"/>
        <a:ext cx="1630990" cy="978594"/>
      </dsp:txXfrm>
    </dsp:sp>
    <dsp:sp modelId="{A171A077-CFC2-42D6-AB84-F119463CF6C8}">
      <dsp:nvSpPr>
        <dsp:cNvPr id="0" name=""/>
        <dsp:cNvSpPr/>
      </dsp:nvSpPr>
      <dsp:spPr>
        <a:xfrm>
          <a:off x="169024" y="2709700"/>
          <a:ext cx="1630990" cy="9785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20" tIns="83890" rIns="79920" bIns="8389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África: inovações direcionadas para o varejo local.</a:t>
          </a:r>
          <a:endParaRPr lang="en-US" sz="1200" kern="1200"/>
        </a:p>
      </dsp:txBody>
      <dsp:txXfrm>
        <a:off x="169024" y="2709700"/>
        <a:ext cx="1630990" cy="9785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14F161-B7A9-4790-B688-6D3E8AF3600A}">
      <dsp:nvSpPr>
        <dsp:cNvPr id="0" name=""/>
        <dsp:cNvSpPr/>
      </dsp:nvSpPr>
      <dsp:spPr>
        <a:xfrm>
          <a:off x="0" y="214032"/>
          <a:ext cx="9093231" cy="13392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Missão: Oferecendo alimentos saborosos, com qualidade, inovação e a preços acessíveis.</a:t>
          </a:r>
          <a:endParaRPr lang="en-US" sz="2200" kern="1200"/>
        </a:p>
      </dsp:txBody>
      <dsp:txXfrm>
        <a:off x="65378" y="279410"/>
        <a:ext cx="8962475" cy="1208528"/>
      </dsp:txXfrm>
    </dsp:sp>
    <dsp:sp modelId="{7F943C8B-1B4D-46F8-A92C-F7A5EE3E34B8}">
      <dsp:nvSpPr>
        <dsp:cNvPr id="0" name=""/>
        <dsp:cNvSpPr/>
      </dsp:nvSpPr>
      <dsp:spPr>
        <a:xfrm>
          <a:off x="0" y="1669146"/>
          <a:ext cx="9093231" cy="13392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Visão: Sermos uma das maiores empresas de alimentos do mundo</a:t>
          </a:r>
          <a:endParaRPr lang="en-US" sz="2200" kern="1200"/>
        </a:p>
      </dsp:txBody>
      <dsp:txXfrm>
        <a:off x="65378" y="1734524"/>
        <a:ext cx="8962475" cy="1208528"/>
      </dsp:txXfrm>
    </dsp:sp>
    <dsp:sp modelId="{FB6CAB7A-109F-48FB-AEF1-BA762D61744B}">
      <dsp:nvSpPr>
        <dsp:cNvPr id="0" name=""/>
        <dsp:cNvSpPr/>
      </dsp:nvSpPr>
      <dsp:spPr>
        <a:xfrm>
          <a:off x="0" y="3019321"/>
          <a:ext cx="9093231" cy="13392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Valores: Integridade,  Foco no consumidor, respeito pelas pessoas, alta performance, qualidade, espírito de inovação, desenvolvimento sustentável, visão global, agilidade local, compromisso com a diversidade e aceitação. </a:t>
          </a:r>
          <a:endParaRPr lang="en-US" sz="2200" kern="1200"/>
        </a:p>
      </dsp:txBody>
      <dsp:txXfrm>
        <a:off x="65378" y="3084699"/>
        <a:ext cx="8962475" cy="1208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D2452-1BD8-24C2-DBEE-FD233409B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123BD1-92AC-BF0D-E32E-6EEC919D7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504E08-A78C-0CB9-3A66-95CAAA6D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3E8CDE-62AC-24B6-B70D-106F9214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CC6B83-6070-0624-9B9C-3CEB7EAEA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05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7E4B8-A08A-2548-2636-38A1CE1F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E81A57-EC41-32B7-6BC5-34EE1588E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F7F6D9-2986-6368-29E2-AC93C2AB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8DA217-9436-0AEC-98F3-8704F5F6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8E4681-E0C5-F5C9-AB05-C6818629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318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F680-2FB2-1F31-9ED4-FE079FE29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E08431-D8C0-CE47-BADF-1A5B896CC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77677A-EB73-935E-0550-B3737BDDB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916448-7910-918E-B441-92C73733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86EAA7-F962-01A5-6D0C-E64C4E1F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66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CB228-2C6E-4432-B3CB-DE0B6107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965FD1-5118-B1F5-4E10-EEDAE6CDC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A82D7-4456-D7B1-049D-F1B8E93C1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75A227-BA82-C63D-19BC-D3838C11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8F5319-7FD8-FB29-3F38-8B87FB51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9A73A6-4287-FFA4-9903-2FE3F918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1441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45C16-8FF7-4EBF-CDF5-4E3CD8FD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548E61-25FF-296F-8899-D61A94647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9AD54C-2067-8352-C5EE-6971BC1CB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0258092-6DFA-E8EE-5D95-BA1B8A6DE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019186-4F8C-256A-31AB-CA0BB8D84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93BF701-DC86-8177-2F83-6BA22E031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A58732B-0042-CF10-4485-7950EA17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BDCFD03-0C61-6862-1F15-DE3A7A44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864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CD1A4-F780-9920-1975-C3FCFA44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5C6A677-FCE8-2B67-99C0-C1D99961F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79AAD1-A329-F68B-478C-B4AEE1DB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E0AD2D-F546-F2B4-0382-0C1844A7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3551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57FBA6-46B3-79DE-7BB0-C69BD52C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E9401E4-809B-000E-37E5-87932263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05AB84-F11B-CAEA-9012-788592A6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1755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50719-8507-9F29-5119-47712DAC2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2ED1D1-278F-51BA-882F-51E0E2A59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B6C259-B1A0-8618-8F8D-8EA0FBF8C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C4F858-4BEF-5BA6-DB54-8A84D3BF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A20F15-6362-2C06-B1A7-28DA0775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262878-C271-F657-D387-B23641F2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7930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C7EA6-3F4F-A8DC-5C6D-E02F315AF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D046A4-1EE4-674C-84AC-2C679BEEB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190F99-1A87-9CDA-5571-D783545FD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8981AF-11BA-5B3A-C70A-28489F4A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65B6A6-3B5C-330E-B109-414CC1165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4EED9B-DF6A-7FC0-51D3-4A1C0DEA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300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E4DA7-CA7F-5515-7D8E-082B22DB1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638398-5A9F-C807-730C-D8D313925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3B5368-DC52-73B2-00A4-4E8F5AE4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24A7D3-0B5F-35C0-3A08-C2DE3ED8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B4CF86-FAF1-CAAE-5F5B-9D597A377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8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37A483-6F1F-2323-5116-927BB7489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53E5C28-4116-706A-A6C2-F358FDD98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12C155-6CEE-8A37-2CD1-D2B1BD3D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B651-8E6F-8F4E-AEDC-0EA3CB75B6D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0D999A-C804-2D44-3580-9471C77C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54E51B-C9BC-3148-72FD-C719165D6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60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FF22F6B-88E1-63A2-E314-D8672C0E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B61ED0-145E-9756-D82A-BE865377E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86BD87-48C0-0ADF-03E2-3588E7AD1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3B651-8E6F-8F4E-AEDC-0EA3CB75B6D5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3452CA-0ACF-0184-87DB-B7467F6C4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86C8F3-02F0-6C54-4E74-E6C46085C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3AA77-8386-6048-A094-CA93D7B574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40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ma pessoa tentando pegar um papel em uma mesa cheia de papel e notas autoadesivas">
            <a:extLst>
              <a:ext uri="{FF2B5EF4-FFF2-40B4-BE49-F238E27FC236}">
                <a16:creationId xmlns:a16="http://schemas.microsoft.com/office/drawing/2014/main" id="{59C447D7-FA84-C1D1-F0A1-D8C8F96C03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8913" b="6817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4D49CF-8532-B384-5545-587C2BFFA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pt-BR" b="1">
                <a:latin typeface="Times New Roman"/>
                <a:cs typeface="Times New Roman"/>
              </a:rPr>
              <a:t>Projeto Planejamento Estratégico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8E1D6D-1A2D-71AA-F2F3-21B16E0A8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b="1">
                <a:latin typeface="Times New Roman"/>
                <a:cs typeface="Times New Roman"/>
              </a:rPr>
              <a:t>Faculdade de Tecnologia – Fatec </a:t>
            </a:r>
          </a:p>
          <a:p>
            <a:r>
              <a:rPr lang="pt-BR" b="1">
                <a:latin typeface="Times New Roman"/>
                <a:cs typeface="Times New Roman"/>
              </a:rPr>
              <a:t>Prof. Dra. Carla Pineda </a:t>
            </a:r>
            <a:r>
              <a:rPr lang="pt-BR" b="1" err="1">
                <a:latin typeface="Times New Roman"/>
                <a:cs typeface="Times New Roman"/>
              </a:rPr>
              <a:t>Lechugo</a:t>
            </a:r>
            <a:endParaRPr lang="pt-BR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65480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28D0B9-BB87-6105-EC79-4AA92D4BF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5000" b="1" err="1">
                <a:solidFill>
                  <a:schemeClr val="bg1"/>
                </a:solidFill>
                <a:latin typeface="Times New Roman"/>
                <a:cs typeface="Times New Roman"/>
              </a:rPr>
              <a:t>Integrantes</a:t>
            </a:r>
            <a:r>
              <a:rPr lang="en-US" sz="5000" b="1">
                <a:solidFill>
                  <a:schemeClr val="bg1"/>
                </a:solidFill>
                <a:latin typeface="Times New Roman"/>
                <a:cs typeface="Times New Roman"/>
              </a:rPr>
              <a:t> da Equipe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52EF87-F2FD-2C01-4896-6EB7A998E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228" y="4026090"/>
            <a:ext cx="8578699" cy="24509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Times New Roman"/>
                <a:cs typeface="Times New Roman"/>
              </a:rPr>
              <a:t>Giovanna Almeida de Campos</a:t>
            </a:r>
            <a:endParaRPr lang="en-US" sz="2000" b="1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000" b="1" kern="1200">
                <a:solidFill>
                  <a:srgbClr val="FFFFFF"/>
                </a:solidFill>
                <a:latin typeface="Times New Roman"/>
                <a:cs typeface="Times New Roman"/>
              </a:rPr>
              <a:t>Karina Bruno de Oliveira </a:t>
            </a:r>
            <a:endParaRPr lang="en-US" sz="2000" b="1" kern="120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Times New Roman"/>
                <a:cs typeface="Times New Roman"/>
              </a:rPr>
              <a:t>Mirella Xavier Galindo</a:t>
            </a:r>
            <a:endParaRPr lang="en-US" sz="2000" b="1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000" b="1" kern="1200">
                <a:solidFill>
                  <a:srgbClr val="FFFFFF"/>
                </a:solidFill>
                <a:latin typeface="Times New Roman"/>
                <a:cs typeface="Times New Roman"/>
              </a:rPr>
              <a:t>Sabrina Carneiro Rodrigues</a:t>
            </a:r>
            <a:endParaRPr lang="en-US" sz="2000" b="1" kern="120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93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BE5B04-2661-6E95-FD8F-D76ABAFC9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3032624"/>
            <a:ext cx="4737139" cy="359482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sz="2200">
                <a:latin typeface="Times New Roman"/>
                <a:ea typeface="Calibri" panose="020F0502020204030204"/>
                <a:cs typeface="Times New Roman"/>
              </a:rPr>
              <a:t>Uma das maiores empresas de alimentos do mundo.</a:t>
            </a:r>
          </a:p>
          <a:p>
            <a:r>
              <a:rPr lang="pt-BR" sz="2200">
                <a:ea typeface="Calibri" panose="020F0502020204030204"/>
                <a:cs typeface="Calibri" panose="020F0502020204030204"/>
              </a:rPr>
              <a:t> </a:t>
            </a:r>
            <a:r>
              <a:rPr lang="pt-BR" sz="2200">
                <a:latin typeface="Times New Roman"/>
                <a:ea typeface="Calibri" panose="020F0502020204030204"/>
                <a:cs typeface="Times New Roman"/>
              </a:rPr>
              <a:t>Referência em inovação, qualidade e alcance global.</a:t>
            </a:r>
          </a:p>
          <a:p>
            <a:r>
              <a:rPr lang="pt-BR" sz="2200">
                <a:latin typeface="Times New Roman"/>
                <a:ea typeface="Calibri" panose="020F0502020204030204"/>
                <a:cs typeface="Times New Roman"/>
              </a:rPr>
              <a:t>Dona das marcas Perdigão, Sadia e </a:t>
            </a:r>
            <a:r>
              <a:rPr lang="pt-BR" sz="2200" err="1">
                <a:latin typeface="Times New Roman"/>
                <a:ea typeface="Calibri" panose="020F0502020204030204"/>
                <a:cs typeface="Times New Roman"/>
              </a:rPr>
              <a:t>Qually</a:t>
            </a:r>
            <a:r>
              <a:rPr lang="pt-BR" sz="2200">
                <a:latin typeface="Times New Roman"/>
                <a:ea typeface="Calibri" panose="020F0502020204030204"/>
                <a:cs typeface="Times New Roman"/>
              </a:rPr>
              <a:t>.</a:t>
            </a:r>
          </a:p>
          <a:p>
            <a:r>
              <a:rPr lang="pt-BR" sz="2200">
                <a:latin typeface="Times New Roman"/>
                <a:ea typeface="Calibri" panose="020F0502020204030204"/>
                <a:cs typeface="Times New Roman"/>
              </a:rPr>
              <a:t>Produção Integrada: dos produtos rurais no campo até o consumidor final</a:t>
            </a:r>
          </a:p>
          <a:p>
            <a:endParaRPr lang="pt-BR" sz="2200">
              <a:latin typeface="Times New Roman"/>
              <a:ea typeface="Calibri" panose="020F0502020204030204"/>
              <a:cs typeface="Times New Roman"/>
            </a:endParaRPr>
          </a:p>
          <a:p>
            <a:endParaRPr lang="pt-BR" sz="2200">
              <a:latin typeface="Times New Roman"/>
              <a:ea typeface="Calibri" panose="020F0502020204030204"/>
              <a:cs typeface="Times New Roman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6E84208-E943-D951-C765-62B38D896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2" r="36612"/>
          <a:stretch>
            <a:fillRect/>
          </a:stretch>
        </p:blipFill>
        <p:spPr bwMode="auto">
          <a:xfrm>
            <a:off x="5756223" y="10"/>
            <a:ext cx="6434254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CD40AF3-436D-1D16-527B-B347BA58A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94" y="174272"/>
            <a:ext cx="3102370" cy="169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850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8" name="Espaço Reservado para Conteúdo 2">
            <a:extLst>
              <a:ext uri="{FF2B5EF4-FFF2-40B4-BE49-F238E27FC236}">
                <a16:creationId xmlns:a16="http://schemas.microsoft.com/office/drawing/2014/main" id="{6348298B-3ADA-288F-F062-2E71253485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9112008"/>
              </p:ext>
            </p:extLst>
          </p:nvPr>
        </p:nvGraphicFramePr>
        <p:xfrm>
          <a:off x="256453" y="1882035"/>
          <a:ext cx="5952344" cy="4557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6F3BE31E-3101-D6FD-613F-D207332E9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73" y="135916"/>
            <a:ext cx="2271712" cy="124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F1E2822-EADA-4974-8F9B-A7EFF88E95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6387" y="1096736"/>
            <a:ext cx="5412070" cy="1571303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13EB3BD-D145-A747-1D96-89033868E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387" y="5049566"/>
            <a:ext cx="5412070" cy="160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998EDD4-3F62-6207-960B-A77B7F1189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6387" y="2965723"/>
            <a:ext cx="5412070" cy="178615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6B713E4-EF41-5925-21DD-B9B79C3B107E}"/>
              </a:ext>
            </a:extLst>
          </p:cNvPr>
          <p:cNvSpPr txBox="1"/>
          <p:nvPr/>
        </p:nvSpPr>
        <p:spPr>
          <a:xfrm>
            <a:off x="945626" y="1367921"/>
            <a:ext cx="5377961" cy="6617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>
                <a:latin typeface="+mj-lt"/>
              </a:rPr>
              <a:t> </a:t>
            </a:r>
            <a:r>
              <a:rPr lang="pt-BR" sz="3700">
                <a:latin typeface="Times New Roman"/>
                <a:cs typeface="Times New Roman"/>
              </a:rPr>
              <a:t>SETOR DE ATUAÇÃO </a:t>
            </a:r>
          </a:p>
        </p:txBody>
      </p:sp>
    </p:spTree>
    <p:extLst>
      <p:ext uri="{BB962C8B-B14F-4D97-AF65-F5344CB8AC3E}">
        <p14:creationId xmlns:p14="http://schemas.microsoft.com/office/powerpoint/2010/main" val="3347609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E9C3A-BE98-67C4-0FA7-459DE80A9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F4C5865-B2C0-B8AF-29C8-6F300253D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387" y="262655"/>
            <a:ext cx="5412070" cy="1571303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85178E6-709D-09E8-DCDF-598C43A99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389" y="4472149"/>
            <a:ext cx="5412070" cy="160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1037142-93AE-BD92-F869-F490D209D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387" y="2224318"/>
            <a:ext cx="5412070" cy="178615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25E8E1D-EC3A-8F44-7CEB-C1CB2DD2862A}"/>
              </a:ext>
            </a:extLst>
          </p:cNvPr>
          <p:cNvSpPr txBox="1"/>
          <p:nvPr/>
        </p:nvSpPr>
        <p:spPr>
          <a:xfrm>
            <a:off x="358680" y="389677"/>
            <a:ext cx="5377961" cy="6617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>
                <a:latin typeface="+mj-lt"/>
              </a:rPr>
              <a:t> </a:t>
            </a:r>
            <a:r>
              <a:rPr lang="pt-BR" sz="3700">
                <a:latin typeface="Times New Roman"/>
                <a:cs typeface="Times New Roman"/>
              </a:rPr>
              <a:t>SETOR DE ATUAÇÃO </a:t>
            </a:r>
          </a:p>
        </p:txBody>
      </p:sp>
      <p:sp>
        <p:nvSpPr>
          <p:cNvPr id="13" name="Triângulo Retângulo 12">
            <a:extLst>
              <a:ext uri="{FF2B5EF4-FFF2-40B4-BE49-F238E27FC236}">
                <a16:creationId xmlns:a16="http://schemas.microsoft.com/office/drawing/2014/main" id="{FDEE1B39-97C6-2669-E301-AE2AF9FFE9DA}"/>
              </a:ext>
            </a:extLst>
          </p:cNvPr>
          <p:cNvSpPr/>
          <p:nvPr/>
        </p:nvSpPr>
        <p:spPr>
          <a:xfrm>
            <a:off x="3136" y="4922809"/>
            <a:ext cx="2253048" cy="1933832"/>
          </a:xfrm>
          <a:prstGeom prst="rtTriangle">
            <a:avLst/>
          </a:prstGeom>
          <a:solidFill>
            <a:srgbClr val="FF84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Espaço Reservado para Conteúdo 13">
            <a:extLst>
              <a:ext uri="{FF2B5EF4-FFF2-40B4-BE49-F238E27FC236}">
                <a16:creationId xmlns:a16="http://schemas.microsoft.com/office/drawing/2014/main" id="{01570818-3330-8519-E2FB-44E87477A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208" y="5666516"/>
            <a:ext cx="1509285" cy="150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83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3C6DA8-DC08-196D-B274-997B1C5F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3957" y="370296"/>
            <a:ext cx="4405308" cy="1112109"/>
          </a:xfrm>
        </p:spPr>
        <p:txBody>
          <a:bodyPr>
            <a:normAutofit/>
          </a:bodyPr>
          <a:lstStyle/>
          <a:p>
            <a:r>
              <a:rPr lang="pt-BR" sz="4000"/>
              <a:t>ONDE ESTAMOS ? </a:t>
            </a:r>
          </a:p>
        </p:txBody>
      </p:sp>
      <p:pic>
        <p:nvPicPr>
          <p:cNvPr id="4" name="Espaço Reservado para Conteúdo 3" descr="Mapa&#10;&#10;O conteúdo gerado por IA pode estar incorreto.">
            <a:extLst>
              <a:ext uri="{FF2B5EF4-FFF2-40B4-BE49-F238E27FC236}">
                <a16:creationId xmlns:a16="http://schemas.microsoft.com/office/drawing/2014/main" id="{4308DBDB-5C75-C1D3-E3D8-E2860218D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820" y="2118036"/>
            <a:ext cx="5696262" cy="3690551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795DEBA-A504-6152-AB4D-37351F5A17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3565" y="140945"/>
            <a:ext cx="2869059" cy="157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76" name="CaixaDeTexto 4">
            <a:extLst>
              <a:ext uri="{FF2B5EF4-FFF2-40B4-BE49-F238E27FC236}">
                <a16:creationId xmlns:a16="http://schemas.microsoft.com/office/drawing/2014/main" id="{F6583153-89E1-1A5E-205F-9883232E1B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4874842"/>
              </p:ext>
            </p:extLst>
          </p:nvPr>
        </p:nvGraphicFramePr>
        <p:xfrm>
          <a:off x="283565" y="2046900"/>
          <a:ext cx="5981278" cy="3690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532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E2E29-6486-338A-AE0C-DC0FFCA19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747" y="526759"/>
            <a:ext cx="6916711" cy="1058941"/>
          </a:xfrm>
        </p:spPr>
        <p:txBody>
          <a:bodyPr/>
          <a:lstStyle/>
          <a:p>
            <a:r>
              <a:rPr lang="pt-BR">
                <a:ea typeface="Calibri Light"/>
                <a:cs typeface="Calibri Light"/>
              </a:rPr>
              <a:t>Organograma Diretoria </a:t>
            </a:r>
            <a:endParaRPr lang="pt-BR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F1AE75C-0AC5-46EB-4C57-84DB75505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3565" y="140946"/>
            <a:ext cx="2639517" cy="1445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68FD723F-ABE1-8922-6917-0DCAF2C8D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5402" y="1718709"/>
            <a:ext cx="10653082" cy="450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29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180E41-A5F0-0527-807D-BCA84C26D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189" y="420555"/>
            <a:ext cx="7621247" cy="805820"/>
          </a:xfrm>
        </p:spPr>
        <p:txBody>
          <a:bodyPr>
            <a:normAutofit/>
          </a:bodyPr>
          <a:lstStyle/>
          <a:p>
            <a:r>
              <a:rPr lang="pt-BR"/>
              <a:t>Posicionamento da BRF</a:t>
            </a:r>
          </a:p>
        </p:txBody>
      </p:sp>
      <p:graphicFrame>
        <p:nvGraphicFramePr>
          <p:cNvPr id="12" name="Espaço Reservado para Conteúdo 2">
            <a:extLst>
              <a:ext uri="{FF2B5EF4-FFF2-40B4-BE49-F238E27FC236}">
                <a16:creationId xmlns:a16="http://schemas.microsoft.com/office/drawing/2014/main" id="{A42067F6-51F6-27E0-AE17-0F01E0A17F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855221"/>
              </p:ext>
            </p:extLst>
          </p:nvPr>
        </p:nvGraphicFramePr>
        <p:xfrm>
          <a:off x="1580902" y="1704439"/>
          <a:ext cx="9093231" cy="4572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Balão colorido em fundo branco&#10;&#10;O conteúdo gerado por IA pode estar incorreto.">
            <a:extLst>
              <a:ext uri="{FF2B5EF4-FFF2-40B4-BE49-F238E27FC236}">
                <a16:creationId xmlns:a16="http://schemas.microsoft.com/office/drawing/2014/main" id="{82B3825C-1F1A-071E-451B-129BD82BA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3565" y="140946"/>
            <a:ext cx="2869059" cy="13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612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8D40C1A-1AA7-E4E2-B1BB-913667562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9992" y="2285684"/>
            <a:ext cx="4742993" cy="259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56677B-C0B7-4DAC-ACAD-8054FF1B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573887"/>
            <a:ext cx="0" cy="3710227"/>
          </a:xfrm>
          <a:prstGeom prst="line">
            <a:avLst/>
          </a:prstGeom>
          <a:ln w="19050">
            <a:solidFill>
              <a:srgbClr val="FC96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70C790F4-FD2A-AA05-DC4B-101303405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693" y="1281678"/>
            <a:ext cx="3637791" cy="46048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931CFCB-31D4-9E4D-9E10-D3CDE968B4C5}"/>
              </a:ext>
            </a:extLst>
          </p:cNvPr>
          <p:cNvSpPr txBox="1"/>
          <p:nvPr/>
        </p:nvSpPr>
        <p:spPr>
          <a:xfrm>
            <a:off x="775515" y="287835"/>
            <a:ext cx="1141418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>
                <a:latin typeface="Calibri Light"/>
                <a:ea typeface="Calibri"/>
                <a:cs typeface="Calibri"/>
              </a:rPr>
              <a:t>Justificativa da Escolha da Marca SADIA </a:t>
            </a:r>
          </a:p>
        </p:txBody>
      </p:sp>
    </p:spTree>
    <p:extLst>
      <p:ext uri="{BB962C8B-B14F-4D97-AF65-F5344CB8AC3E}">
        <p14:creationId xmlns:p14="http://schemas.microsoft.com/office/powerpoint/2010/main" val="1691240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4250D-B65A-0D96-06C4-F647F9CBA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33" y="1187354"/>
            <a:ext cx="5411449" cy="806647"/>
          </a:xfrm>
        </p:spPr>
        <p:txBody>
          <a:bodyPr anchor="t">
            <a:normAutofit fontScale="90000"/>
          </a:bodyPr>
          <a:lstStyle/>
          <a:p>
            <a:r>
              <a:rPr lang="pt-BR" sz="3200"/>
              <a:t>             PRINCIPAIS PRODUTOS</a:t>
            </a:r>
            <a:br>
              <a:rPr lang="pt-BR" sz="3200"/>
            </a:br>
            <a:r>
              <a:rPr lang="pt-BR" sz="3200"/>
              <a:t>                            SADIA </a:t>
            </a:r>
          </a:p>
        </p:txBody>
      </p:sp>
      <p:cxnSp>
        <p:nvCxnSpPr>
          <p:cNvPr id="52" name="Straight Connector 47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5468F43C-6E1D-D9D9-9B6F-FE46A9649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859482" cy="35912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A Marca Sadia </a:t>
            </a:r>
            <a:r>
              <a:rPr lang="en-US" sz="2000" err="1"/>
              <a:t>tem</a:t>
            </a:r>
            <a:r>
              <a:rPr lang="en-US" sz="2000"/>
              <a:t> um </a:t>
            </a:r>
            <a:r>
              <a:rPr lang="en-US" sz="2000" err="1"/>
              <a:t>portifólio</a:t>
            </a:r>
            <a:r>
              <a:rPr lang="en-US" sz="2000"/>
              <a:t> extenso, </a:t>
            </a:r>
            <a:r>
              <a:rPr lang="en-US" sz="2000" err="1"/>
              <a:t>dividido</a:t>
            </a:r>
            <a:r>
              <a:rPr lang="en-US" sz="2000"/>
              <a:t> </a:t>
            </a:r>
            <a:r>
              <a:rPr lang="en-US" sz="2000" err="1"/>
              <a:t>por</a:t>
            </a:r>
            <a:r>
              <a:rPr lang="en-US" sz="2000"/>
              <a:t> </a:t>
            </a:r>
            <a:r>
              <a:rPr lang="en-US" sz="2000" err="1"/>
              <a:t>linha</a:t>
            </a:r>
            <a:r>
              <a:rPr lang="en-US" sz="2000"/>
              <a:t> de </a:t>
            </a:r>
            <a:r>
              <a:rPr lang="en-US" sz="2000" err="1"/>
              <a:t>produtos</a:t>
            </a:r>
            <a:r>
              <a:rPr lang="en-US" sz="2000"/>
              <a:t>:</a:t>
            </a:r>
          </a:p>
          <a:p>
            <a:r>
              <a:rPr lang="en-US" sz="2000"/>
              <a:t>Sadia Bio: Aves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/>
              <a:t>Sadia </a:t>
            </a:r>
            <a:r>
              <a:rPr lang="en-US" sz="2000" err="1"/>
              <a:t>Veg&amp;tal</a:t>
            </a:r>
            <a:r>
              <a:rPr lang="en-US" sz="2000"/>
              <a:t>: Legumes </a:t>
            </a:r>
            <a:r>
              <a:rPr lang="en-US" sz="2000" err="1"/>
              <a:t>congelados</a:t>
            </a:r>
            <a:r>
              <a:rPr lang="en-US" sz="2000"/>
              <a:t>, </a:t>
            </a:r>
            <a:r>
              <a:rPr lang="en-US" sz="2000" err="1"/>
              <a:t>linha</a:t>
            </a:r>
            <a:r>
              <a:rPr lang="en-US" sz="2000"/>
              <a:t> Veg.</a:t>
            </a:r>
          </a:p>
          <a:p>
            <a:r>
              <a:rPr lang="en-US" sz="2000"/>
              <a:t>Sadia </a:t>
            </a:r>
            <a:r>
              <a:rPr lang="en-US" sz="2000" err="1"/>
              <a:t>Especiale</a:t>
            </a:r>
            <a:r>
              <a:rPr lang="en-US" sz="2000"/>
              <a:t>: </a:t>
            </a:r>
            <a:r>
              <a:rPr lang="en-US" sz="2000" err="1"/>
              <a:t>Embutidos</a:t>
            </a:r>
            <a:endParaRPr lang="en-US" sz="2000"/>
          </a:p>
          <a:p>
            <a:r>
              <a:rPr lang="en-US" sz="2000"/>
              <a:t>Sadia </a:t>
            </a:r>
            <a:r>
              <a:rPr lang="en-US" sz="2000" err="1"/>
              <a:t>Lanches</a:t>
            </a:r>
            <a:r>
              <a:rPr lang="en-US" sz="2000"/>
              <a:t>: Hot Pocket, </a:t>
            </a:r>
            <a:r>
              <a:rPr lang="en-US" sz="2000" err="1"/>
              <a:t>hamburguer</a:t>
            </a:r>
            <a:r>
              <a:rPr lang="en-US" sz="2000"/>
              <a:t> </a:t>
            </a:r>
            <a:r>
              <a:rPr lang="en-US" sz="2000" err="1"/>
              <a:t>congelado</a:t>
            </a:r>
            <a:r>
              <a:rPr lang="en-US" sz="2000"/>
              <a:t>, </a:t>
            </a:r>
            <a:r>
              <a:rPr lang="en-US" sz="2000" err="1"/>
              <a:t>salamitos</a:t>
            </a:r>
            <a:r>
              <a:rPr lang="en-US" sz="2000"/>
              <a:t>, </a:t>
            </a:r>
            <a:r>
              <a:rPr lang="en-US" sz="2000" err="1"/>
              <a:t>empanadísimo</a:t>
            </a:r>
            <a:r>
              <a:rPr lang="en-US" sz="2000"/>
              <a:t>  e </a:t>
            </a:r>
            <a:r>
              <a:rPr lang="en-US" sz="2000" err="1"/>
              <a:t>salamitos</a:t>
            </a:r>
            <a:r>
              <a:rPr lang="en-US" sz="2000"/>
              <a:t>.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53" name="Rectangle 49">
            <a:extLst>
              <a:ext uri="{FF2B5EF4-FFF2-40B4-BE49-F238E27FC236}">
                <a16:creationId xmlns:a16="http://schemas.microsoft.com/office/drawing/2014/main" id="{B7CCD652-09BE-3FB9-0B1E-E17EA5B27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8229" y="1"/>
            <a:ext cx="5803771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C2EF510C-B060-4ADB-D7DC-5D6314BB4C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176" b="4652"/>
          <a:stretch>
            <a:fillRect/>
          </a:stretch>
        </p:blipFill>
        <p:spPr>
          <a:xfrm>
            <a:off x="9666321" y="2605350"/>
            <a:ext cx="1941846" cy="180380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99F21FB-6FCE-2C78-BEA3-F8FCB33B77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81" r="26017" b="-2"/>
          <a:stretch>
            <a:fillRect/>
          </a:stretch>
        </p:blipFill>
        <p:spPr>
          <a:xfrm>
            <a:off x="7036869" y="4896419"/>
            <a:ext cx="1956667" cy="161620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5B5E3CF4-D488-D385-2013-A7544F4A9A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24" r="19357" b="2"/>
          <a:stretch>
            <a:fillRect/>
          </a:stretch>
        </p:blipFill>
        <p:spPr>
          <a:xfrm>
            <a:off x="7125526" y="2694707"/>
            <a:ext cx="1941846" cy="162509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EE55E29-998C-C014-8EEF-5FD5B5FE8C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812" r="37888" b="3"/>
          <a:stretch>
            <a:fillRect/>
          </a:stretch>
        </p:blipFill>
        <p:spPr>
          <a:xfrm>
            <a:off x="9666321" y="4795944"/>
            <a:ext cx="1956667" cy="1817152"/>
          </a:xfrm>
          <a:prstGeom prst="rect">
            <a:avLst/>
          </a:prstGeom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91C50B9E-62AD-F4D0-5678-9D28336E6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6450" y="64499"/>
            <a:ext cx="2130885" cy="112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55FC8CA-067C-29A0-3BC7-705CB74A58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9882" y="643809"/>
            <a:ext cx="1440958" cy="151174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462A963D-D83C-0727-7C47-94CED28999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2854" y="393424"/>
            <a:ext cx="1466935" cy="1999867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5EBAF490-72AF-216B-5C09-21641DEE77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8322" y="589486"/>
            <a:ext cx="2104439" cy="1803805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E2AF2BB-42EF-F5C0-E86E-6B719C925123}"/>
              </a:ext>
            </a:extLst>
          </p:cNvPr>
          <p:cNvCxnSpPr/>
          <p:nvPr/>
        </p:nvCxnSpPr>
        <p:spPr>
          <a:xfrm>
            <a:off x="419725" y="2023672"/>
            <a:ext cx="541144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303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69A38EBA-6E97-44A4-B4B8-D9FB5D33F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98E1B4-4DAF-84ED-4765-A1BE534D4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99" y="1097389"/>
            <a:ext cx="4861516" cy="981873"/>
          </a:xfrm>
        </p:spPr>
        <p:txBody>
          <a:bodyPr anchor="b">
            <a:normAutofit fontScale="90000"/>
          </a:bodyPr>
          <a:lstStyle/>
          <a:p>
            <a:pPr algn="ctr"/>
            <a:r>
              <a:rPr lang="pt-BR" sz="3400"/>
              <a:t>     PRINCIPAIS CLIENTES              SADIA</a:t>
            </a:r>
          </a:p>
        </p:txBody>
      </p:sp>
      <p:sp>
        <p:nvSpPr>
          <p:cNvPr id="64" name="!!accent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480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87CA742B-3234-A1A7-B849-56D0A9533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502858" cy="3492868"/>
          </a:xfrm>
        </p:spPr>
        <p:txBody>
          <a:bodyPr>
            <a:normAutofit/>
          </a:bodyPr>
          <a:lstStyle/>
          <a:p>
            <a:r>
              <a:rPr lang="pt-BR" sz="2000"/>
              <a:t>Consumidores Finais (B2C): Famílias e indivíduos que compram o produto para consumo diretamente sem intermediário (</a:t>
            </a:r>
            <a:r>
              <a:rPr lang="pt-BR" sz="2000" err="1"/>
              <a:t>Mercato</a:t>
            </a:r>
            <a:r>
              <a:rPr lang="pt-BR" sz="2000"/>
              <a:t> Sadia).</a:t>
            </a:r>
          </a:p>
          <a:p>
            <a:pPr marL="0" indent="0">
              <a:buNone/>
            </a:pPr>
            <a:endParaRPr lang="pt-BR" sz="2000"/>
          </a:p>
          <a:p>
            <a:r>
              <a:rPr lang="pt-BR" sz="2000"/>
              <a:t>Estabelecimentos Comerciais (B2B): A marca Sadia esta presente em mais de 150 mil pontos de vendas no Brasil, incluindo grandes redes de supermercados e varejistas. 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9C0E7C0-EE38-1E4E-C591-4ABDA3ACAE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52" r="8322" b="-1"/>
          <a:stretch>
            <a:fillRect/>
          </a:stretch>
        </p:blipFill>
        <p:spPr>
          <a:xfrm>
            <a:off x="5385816" y="-2"/>
            <a:ext cx="6806184" cy="6858001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8731AB5-F71C-B71D-A83F-CA03376AE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099" y="-25466"/>
            <a:ext cx="2130885" cy="112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255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E45EA07-5778-4716-A1E3-516D77B73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F3FC03D-8AE4-4034-A0C7-8180088B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4" y="633619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957B84-675C-F69F-7C79-55387FFC4111}"/>
              </a:ext>
            </a:extLst>
          </p:cNvPr>
          <p:cNvSpPr txBox="1"/>
          <p:nvPr/>
        </p:nvSpPr>
        <p:spPr>
          <a:xfrm>
            <a:off x="537590" y="978408"/>
            <a:ext cx="4199302" cy="110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atin typeface="+mj-lt"/>
                <a:ea typeface="+mj-ea"/>
                <a:cs typeface="+mj-cs"/>
              </a:rPr>
              <a:t>PRINCIPAIS CONCORRENTES SADIA X SEARA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7047B1-C902-4225-94C5-A9B56D455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FD69FC-E69E-4F4F-AC1C-4297656E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94DF22-0C36-B405-C50C-FE9487D02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152"/>
            <a:ext cx="3683187" cy="34290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Seara Alimentos (</a:t>
            </a:r>
            <a:r>
              <a:rPr lang="en-US" sz="2000" err="1"/>
              <a:t>parte</a:t>
            </a:r>
            <a:r>
              <a:rPr lang="en-US" sz="2000"/>
              <a:t> do </a:t>
            </a:r>
            <a:r>
              <a:rPr lang="en-US" sz="2000" err="1"/>
              <a:t>grupo</a:t>
            </a:r>
            <a:r>
              <a:rPr lang="en-US" sz="2000"/>
              <a:t> JBS)</a:t>
            </a:r>
          </a:p>
          <a:p>
            <a:pPr marL="0"/>
            <a:r>
              <a:rPr lang="en-US" sz="2000" err="1"/>
              <a:t>Concorrente</a:t>
            </a:r>
            <a:r>
              <a:rPr lang="en-US" sz="2000"/>
              <a:t> </a:t>
            </a:r>
            <a:r>
              <a:rPr lang="en-US" sz="2000" err="1"/>
              <a:t>direto</a:t>
            </a:r>
            <a:r>
              <a:rPr lang="en-US" sz="2000"/>
              <a:t> </a:t>
            </a:r>
            <a:r>
              <a:rPr lang="en-US" sz="2000" err="1"/>
              <a:t>em</a:t>
            </a:r>
            <a:r>
              <a:rPr lang="en-US" sz="2000"/>
              <a:t> </a:t>
            </a:r>
            <a:r>
              <a:rPr lang="en-US" sz="2000" err="1"/>
              <a:t>produtos</a:t>
            </a:r>
            <a:r>
              <a:rPr lang="en-US" sz="2000"/>
              <a:t> de </a:t>
            </a:r>
            <a:r>
              <a:rPr lang="en-US" sz="2000" err="1"/>
              <a:t>aves</a:t>
            </a:r>
            <a:r>
              <a:rPr lang="en-US" sz="2000"/>
              <a:t>, </a:t>
            </a:r>
            <a:r>
              <a:rPr lang="en-US" sz="2000" err="1"/>
              <a:t>suínos</a:t>
            </a:r>
            <a:r>
              <a:rPr lang="en-US" sz="2000"/>
              <a:t> e </a:t>
            </a:r>
            <a:r>
              <a:rPr lang="en-US" sz="2000" err="1"/>
              <a:t>alimentos</a:t>
            </a:r>
            <a:r>
              <a:rPr lang="en-US" sz="2000"/>
              <a:t> </a:t>
            </a:r>
            <a:r>
              <a:rPr lang="en-US" sz="2000" err="1"/>
              <a:t>processados</a:t>
            </a:r>
            <a:r>
              <a:rPr lang="en-US" sz="2000"/>
              <a:t>, com </a:t>
            </a:r>
            <a:r>
              <a:rPr lang="en-US" sz="2000" err="1"/>
              <a:t>unidade</a:t>
            </a:r>
            <a:r>
              <a:rPr lang="en-US" sz="2000"/>
              <a:t> no </a:t>
            </a:r>
            <a:r>
              <a:rPr lang="en-US" sz="2000" err="1"/>
              <a:t>Brasil</a:t>
            </a:r>
            <a:r>
              <a:rPr lang="en-US" sz="2000"/>
              <a:t> e no exterior</a:t>
            </a:r>
          </a:p>
          <a:p>
            <a:pPr marL="0"/>
            <a:r>
              <a:rPr lang="en-US" sz="2000"/>
              <a:t>A </a:t>
            </a:r>
            <a:r>
              <a:rPr lang="en-US" sz="2000" err="1"/>
              <a:t>marca</a:t>
            </a:r>
            <a:r>
              <a:rPr lang="en-US" sz="2000"/>
              <a:t> Seara </a:t>
            </a:r>
            <a:r>
              <a:rPr lang="en-US" sz="2000" err="1"/>
              <a:t>tem</a:t>
            </a:r>
            <a:r>
              <a:rPr lang="en-US" sz="2000"/>
              <a:t> </a:t>
            </a:r>
            <a:r>
              <a:rPr lang="en-US" sz="2000" err="1"/>
              <a:t>parcerias</a:t>
            </a:r>
            <a:r>
              <a:rPr lang="en-US" sz="2000"/>
              <a:t> com a Netflix e Air Fryer.</a:t>
            </a:r>
          </a:p>
          <a:p>
            <a:pPr marL="0"/>
            <a:endParaRPr lang="en-US" sz="2000"/>
          </a:p>
          <a:p>
            <a:pPr marL="0"/>
            <a:endParaRPr lang="en-US" sz="2000"/>
          </a:p>
          <a:p>
            <a:pPr marL="0"/>
            <a:endParaRPr lang="en-US" sz="1700"/>
          </a:p>
          <a:p>
            <a:pPr marL="0"/>
            <a:endParaRPr lang="en-US" sz="170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05972DEF-8AD2-CCA0-BD2A-7D9717697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22180"/>
            <a:ext cx="2048256" cy="11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18A98B20-D05B-84E6-9CB3-EC12E091C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803" y="1304584"/>
            <a:ext cx="3518859" cy="271429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84C6F36D-7BF6-0DEA-8747-8C74B3831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3616" y="175976"/>
            <a:ext cx="3000794" cy="952633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CBBF635F-CBE4-1234-3FE6-CC1EDE830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412" y="4073652"/>
            <a:ext cx="2960795" cy="2357217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21D0A6C9-2A3A-DB35-8BED-5CA18623C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9802" y="4194855"/>
            <a:ext cx="3518860" cy="2276793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935D16AE-7B08-D81F-3E5C-7978FA216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0939" y="415962"/>
            <a:ext cx="3069743" cy="472659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286AAE55-7C9B-4CCF-0607-EA47FFF627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6386" y="1099240"/>
            <a:ext cx="2838846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32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6FF42C2-EA15-4154-B242-E98E88CED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79DE9F7-28C4-4856-BA57-D696E124C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3EC811-AFF3-DEF9-40AE-9C32DCED0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6" y="1254727"/>
            <a:ext cx="4179154" cy="1063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/>
              <a:t>PRINCIPAIS CONCORRENTES              SADIA X AURORA</a:t>
            </a:r>
            <a:br>
              <a:rPr lang="en-US" sz="2400"/>
            </a:br>
            <a:endParaRPr lang="pt-BR" sz="240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F9ED9C-121B-44C6-A308-5824769C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5F8185-F27B-4E99-A06C-007336FE3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95865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FB7B791-7E76-DC4B-BEC5-E63A491F8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572" y="2982728"/>
            <a:ext cx="3845418" cy="2611892"/>
          </a:xfrm>
        </p:spPr>
        <p:txBody>
          <a:bodyPr>
            <a:normAutofit/>
          </a:bodyPr>
          <a:lstStyle/>
          <a:p>
            <a:r>
              <a:rPr lang="pt-BR" sz="2000"/>
              <a:t>Aurora Alimentos: Cooperativa brasileira com forte atuação em carnes suínas, aves e produtos processados, reconhecida pela qualidade e presença nacional.</a:t>
            </a:r>
          </a:p>
          <a:p>
            <a:endParaRPr lang="pt-BR" sz="1800"/>
          </a:p>
        </p:txBody>
      </p:sp>
      <p:pic>
        <p:nvPicPr>
          <p:cNvPr id="11" name="Imagem 10" descr="Calendário&#10;&#10;O conteúdo gerado por IA pode estar incorreto.">
            <a:extLst>
              <a:ext uri="{FF2B5EF4-FFF2-40B4-BE49-F238E27FC236}">
                <a16:creationId xmlns:a16="http://schemas.microsoft.com/office/drawing/2014/main" id="{594A68EF-5845-7305-687E-4063EB33CC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32" b="1979"/>
          <a:stretch>
            <a:fillRect/>
          </a:stretch>
        </p:blipFill>
        <p:spPr>
          <a:xfrm>
            <a:off x="5877985" y="1845292"/>
            <a:ext cx="2873668" cy="142808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0C6B5A0-ABAB-7A46-FD43-33BCF29A6A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3" r="3" b="3"/>
          <a:stretch>
            <a:fillRect/>
          </a:stretch>
        </p:blipFill>
        <p:spPr>
          <a:xfrm>
            <a:off x="8908757" y="1874520"/>
            <a:ext cx="2873668" cy="1428090"/>
          </a:xfrm>
          <a:prstGeom prst="rect">
            <a:avLst/>
          </a:prstGeom>
        </p:spPr>
      </p:pic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2D2B9B5A-2F28-4523-7291-E869E86B93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09" r="3" b="3"/>
          <a:stretch>
            <a:fillRect/>
          </a:stretch>
        </p:blipFill>
        <p:spPr>
          <a:xfrm>
            <a:off x="5877986" y="3567659"/>
            <a:ext cx="5904440" cy="2558654"/>
          </a:xfrm>
          <a:prstGeom prst="rect">
            <a:avLst/>
          </a:prstGeom>
        </p:spPr>
      </p:pic>
      <p:pic>
        <p:nvPicPr>
          <p:cNvPr id="7" name="Picture 2" descr="Balão colorido em fundo branco&#10;&#10;O conteúdo gerado por IA pode estar incorreto.">
            <a:extLst>
              <a:ext uri="{FF2B5EF4-FFF2-40B4-BE49-F238E27FC236}">
                <a16:creationId xmlns:a16="http://schemas.microsoft.com/office/drawing/2014/main" id="{31B3B842-B290-1A32-B538-3A809325B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048256" cy="11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898D171-6257-5F01-2B9E-A32E4A2694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7785" y="418028"/>
            <a:ext cx="1848648" cy="130935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690F8CD5-E521-0915-CBB8-7F56B8A452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6563" y="458317"/>
            <a:ext cx="1848648" cy="1283678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6D3C1541-646A-EA49-6465-0DBAFFBC4A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9929" y="481250"/>
            <a:ext cx="1937655" cy="126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79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C1FBF8AA-5F47-44E3-E2FE-D11DD2DC9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804" y="423810"/>
            <a:ext cx="9552317" cy="1282432"/>
          </a:xfrm>
        </p:spPr>
        <p:txBody>
          <a:bodyPr>
            <a:normAutofit/>
          </a:bodyPr>
          <a:lstStyle/>
          <a:p>
            <a:pPr algn="ctr"/>
            <a:r>
              <a:rPr lang="pt-BR" sz="3600" dirty="0">
                <a:latin typeface="Times New Roman"/>
                <a:cs typeface="Times New Roman"/>
              </a:rPr>
              <a:t>CRITÉRIOS CLASSIFICADORES DE COMPRA</a:t>
            </a:r>
            <a:br>
              <a:rPr lang="pt-BR" sz="3600" dirty="0">
                <a:latin typeface="Times New Roman"/>
                <a:cs typeface="Times New Roman"/>
              </a:rPr>
            </a:br>
            <a:endParaRPr lang="pt-BR" sz="3600" dirty="0">
              <a:latin typeface="Times New Roman"/>
              <a:cs typeface="Times New Roman"/>
            </a:endParaRPr>
          </a:p>
        </p:txBody>
      </p:sp>
      <p:pic>
        <p:nvPicPr>
          <p:cNvPr id="2" name="Picture 2" descr="Balão colorido em fundo branco&#10;&#10;O conteúdo gerado por IA pode estar incorreto.">
            <a:extLst>
              <a:ext uri="{FF2B5EF4-FFF2-40B4-BE49-F238E27FC236}">
                <a16:creationId xmlns:a16="http://schemas.microsoft.com/office/drawing/2014/main" id="{29E98CAD-3C85-C6CC-039D-8D8582298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982" y="13652"/>
            <a:ext cx="2048256" cy="11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 descr="Tabela">
            <a:extLst>
              <a:ext uri="{FF2B5EF4-FFF2-40B4-BE49-F238E27FC236}">
                <a16:creationId xmlns:a16="http://schemas.microsoft.com/office/drawing/2014/main" id="{87554745-B9C3-5364-F18B-C2D7EB5A4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6" y="1931656"/>
            <a:ext cx="12192000" cy="330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08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111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E3AD17-EB1D-9C0E-5186-32D8AA65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513" y="-951520"/>
            <a:ext cx="6125964" cy="1906863"/>
          </a:xfrm>
        </p:spPr>
        <p:txBody>
          <a:bodyPr anchor="b">
            <a:normAutofit/>
          </a:bodyPr>
          <a:lstStyle/>
          <a:p>
            <a:pPr algn="ctr"/>
            <a:r>
              <a:rPr lang="pt-BR" sz="3700" dirty="0">
                <a:latin typeface="Times New Roman"/>
                <a:cs typeface="Times New Roman"/>
              </a:rPr>
              <a:t>CONHEÇA A TI MESMO   </a:t>
            </a:r>
          </a:p>
        </p:txBody>
      </p:sp>
      <p:pic>
        <p:nvPicPr>
          <p:cNvPr id="105" name="Imagem 104" descr="Sadia lança Promoção de Verão com Miniaturas do Lek Trek - FoodBiz">
            <a:extLst>
              <a:ext uri="{FF2B5EF4-FFF2-40B4-BE49-F238E27FC236}">
                <a16:creationId xmlns:a16="http://schemas.microsoft.com/office/drawing/2014/main" id="{3BAF886B-F115-2E9B-BA14-443974E4A9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96" b="5450"/>
          <a:stretch>
            <a:fillRect/>
          </a:stretch>
        </p:blipFill>
        <p:spPr>
          <a:xfrm>
            <a:off x="8730411" y="3387868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4" name="Picture 2" descr="Balão colorido em fundo branco&#10;&#10;O conteúdo gerado por IA pode estar incorreto.">
            <a:extLst>
              <a:ext uri="{FF2B5EF4-FFF2-40B4-BE49-F238E27FC236}">
                <a16:creationId xmlns:a16="http://schemas.microsoft.com/office/drawing/2014/main" id="{F302DDD6-A892-26EF-B014-F24FEF072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048256" cy="11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CA28283-1C3A-6CBF-E927-3F29124783FD}"/>
              </a:ext>
            </a:extLst>
          </p:cNvPr>
          <p:cNvSpPr/>
          <p:nvPr/>
        </p:nvSpPr>
        <p:spPr>
          <a:xfrm>
            <a:off x="1156803" y="4977729"/>
            <a:ext cx="3292126" cy="58573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ea typeface="Calibri"/>
                <a:cs typeface="Calibri"/>
              </a:rPr>
              <a:t>LINHA VEG&amp;TAL</a:t>
            </a:r>
            <a:endParaRPr lang="pt-BR" sz="280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F5F49E6-AAB2-5E87-0F3A-26643890DDAF}"/>
              </a:ext>
            </a:extLst>
          </p:cNvPr>
          <p:cNvSpPr/>
          <p:nvPr/>
        </p:nvSpPr>
        <p:spPr>
          <a:xfrm>
            <a:off x="1156802" y="4028823"/>
            <a:ext cx="3292126" cy="58573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800" dirty="0">
                <a:ea typeface="Calibri"/>
                <a:cs typeface="Calibri"/>
              </a:rPr>
              <a:t>QUALIDADE</a:t>
            </a:r>
            <a:endParaRPr lang="pt-BR" sz="2800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FE81803-3683-EC15-FA51-62CA8464515E}"/>
              </a:ext>
            </a:extLst>
          </p:cNvPr>
          <p:cNvSpPr/>
          <p:nvPr/>
        </p:nvSpPr>
        <p:spPr>
          <a:xfrm>
            <a:off x="1156803" y="3137427"/>
            <a:ext cx="3292126" cy="54260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800">
                <a:ea typeface="Calibri"/>
                <a:cs typeface="Calibri"/>
              </a:rPr>
              <a:t>MARCA</a:t>
            </a:r>
            <a:endParaRPr lang="pt-BR" sz="28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2A0382-9EA5-F810-8807-2CEB6F9CE862}"/>
              </a:ext>
            </a:extLst>
          </p:cNvPr>
          <p:cNvSpPr txBox="1"/>
          <p:nvPr/>
        </p:nvSpPr>
        <p:spPr>
          <a:xfrm>
            <a:off x="769364" y="1517934"/>
            <a:ext cx="3534916" cy="4782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8A3330-35B7-4587-33C0-2E63E195591E}"/>
              </a:ext>
            </a:extLst>
          </p:cNvPr>
          <p:cNvSpPr txBox="1"/>
          <p:nvPr/>
        </p:nvSpPr>
        <p:spPr>
          <a:xfrm>
            <a:off x="1226434" y="1700943"/>
            <a:ext cx="26199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Times New Roman"/>
                <a:ea typeface="Calibri"/>
                <a:cs typeface="Calibri"/>
              </a:rPr>
              <a:t>Pontos Fortes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03E3B28-36FE-63D2-4847-60A3E18D2B26}"/>
              </a:ext>
            </a:extLst>
          </p:cNvPr>
          <p:cNvSpPr txBox="1"/>
          <p:nvPr/>
        </p:nvSpPr>
        <p:spPr>
          <a:xfrm>
            <a:off x="6091963" y="1761997"/>
            <a:ext cx="26199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>
                <a:latin typeface="Times New Roman"/>
                <a:ea typeface="Calibri"/>
                <a:cs typeface="Calibri"/>
              </a:rPr>
              <a:t>Pontos Fracos</a:t>
            </a:r>
            <a:endParaRPr lang="pt-BR" sz="3200" dirty="0">
              <a:latin typeface="Times New Roman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1B7ED12-87A6-AA85-609B-CB067AF8A539}"/>
              </a:ext>
            </a:extLst>
          </p:cNvPr>
          <p:cNvSpPr/>
          <p:nvPr/>
        </p:nvSpPr>
        <p:spPr>
          <a:xfrm>
            <a:off x="5767548" y="5023053"/>
            <a:ext cx="3292126" cy="54260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800" dirty="0">
                <a:ea typeface="Calibri"/>
                <a:cs typeface="Calibri"/>
              </a:rPr>
              <a:t>PORTIFÓLIO DE AVES</a:t>
            </a:r>
            <a:endParaRPr lang="pt-BR" sz="2800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4D5451B-3DC8-6E1C-B616-5B4449BEF2C2}"/>
              </a:ext>
            </a:extLst>
          </p:cNvPr>
          <p:cNvSpPr/>
          <p:nvPr/>
        </p:nvSpPr>
        <p:spPr>
          <a:xfrm>
            <a:off x="5767548" y="4067325"/>
            <a:ext cx="3292126" cy="54260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800" dirty="0">
                <a:ea typeface="Calibri"/>
                <a:cs typeface="Calibri"/>
              </a:rPr>
              <a:t>INOVAÇÃO</a:t>
            </a:r>
            <a:endParaRPr lang="pt-BR" sz="2800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86C819B-84E6-BE8C-3E36-79EC5C5E114B}"/>
              </a:ext>
            </a:extLst>
          </p:cNvPr>
          <p:cNvSpPr/>
          <p:nvPr/>
        </p:nvSpPr>
        <p:spPr>
          <a:xfrm>
            <a:off x="5767548" y="3163257"/>
            <a:ext cx="3292126" cy="54260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800" dirty="0">
                <a:ea typeface="Calibri"/>
                <a:cs typeface="Calibri"/>
              </a:rPr>
              <a:t>PREÇO</a:t>
            </a:r>
          </a:p>
        </p:txBody>
      </p:sp>
    </p:spTree>
    <p:extLst>
      <p:ext uri="{BB962C8B-B14F-4D97-AF65-F5344CB8AC3E}">
        <p14:creationId xmlns:p14="http://schemas.microsoft.com/office/powerpoint/2010/main" val="1701716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8CFD38-AB11-1A62-CDCD-F8FE3786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689" y="178550"/>
            <a:ext cx="7122660" cy="937493"/>
          </a:xfrm>
        </p:spPr>
        <p:txBody>
          <a:bodyPr anchor="b">
            <a:normAutofit/>
          </a:bodyPr>
          <a:lstStyle/>
          <a:p>
            <a:r>
              <a:rPr lang="pt-BR" dirty="0">
                <a:latin typeface="Times New Roman"/>
                <a:ea typeface="Calibri Light"/>
                <a:cs typeface="Calibri Light"/>
              </a:rPr>
              <a:t>BCG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1" name="Espaço Reservado para Conteúdo 30" descr="Texto&#10;&#10;O conteúdo gerado por IA pode estar incorreto.">
            <a:extLst>
              <a:ext uri="{FF2B5EF4-FFF2-40B4-BE49-F238E27FC236}">
                <a16:creationId xmlns:a16="http://schemas.microsoft.com/office/drawing/2014/main" id="{D0D9A0AC-742E-D2BF-9B30-C873A9F93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46984"/>
            <a:ext cx="10515600" cy="2308620"/>
          </a:xfrm>
          <a:prstGeom prst="rect">
            <a:avLst/>
          </a:prstGeom>
        </p:spPr>
      </p:pic>
      <p:pic>
        <p:nvPicPr>
          <p:cNvPr id="30" name="Picture 2" descr="Balão colorido em fundo branco&#10;&#10;O conteúdo gerado por IA pode estar incorreto.">
            <a:extLst>
              <a:ext uri="{FF2B5EF4-FFF2-40B4-BE49-F238E27FC236}">
                <a16:creationId xmlns:a16="http://schemas.microsoft.com/office/drawing/2014/main" id="{30B2202A-1A2E-9B4C-716D-EBB41715D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048256" cy="11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078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8CFD38-AB11-1A62-CDCD-F8FE3786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689" y="178550"/>
            <a:ext cx="7122660" cy="937493"/>
          </a:xfrm>
        </p:spPr>
        <p:txBody>
          <a:bodyPr anchor="b">
            <a:normAutofit/>
          </a:bodyPr>
          <a:lstStyle/>
          <a:p>
            <a:r>
              <a:rPr lang="pt-BR" dirty="0">
                <a:latin typeface="Times New Roman"/>
                <a:ea typeface="Calibri Light"/>
                <a:cs typeface="Calibri Light"/>
              </a:rPr>
              <a:t>BCG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0" name="Picture 2" descr="Balão colorido em fundo branco&#10;&#10;O conteúdo gerado por IA pode estar incorreto.">
            <a:extLst>
              <a:ext uri="{FF2B5EF4-FFF2-40B4-BE49-F238E27FC236}">
                <a16:creationId xmlns:a16="http://schemas.microsoft.com/office/drawing/2014/main" id="{30B2202A-1A2E-9B4C-716D-EBB41715D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048256" cy="11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6241499-28CC-4820-B7E6-C77B7416E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720675"/>
            <a:ext cx="10515600" cy="256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23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8CFD38-AB11-1A62-CDCD-F8FE3786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689" y="178550"/>
            <a:ext cx="7122660" cy="937493"/>
          </a:xfrm>
        </p:spPr>
        <p:txBody>
          <a:bodyPr anchor="b">
            <a:normAutofit/>
          </a:bodyPr>
          <a:lstStyle/>
          <a:p>
            <a:r>
              <a:rPr lang="pt-BR" dirty="0">
                <a:latin typeface="Times New Roman"/>
                <a:ea typeface="Calibri Light"/>
                <a:cs typeface="Calibri Light"/>
              </a:rPr>
              <a:t>BCG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0" name="Picture 2" descr="Balão colorido em fundo branco&#10;&#10;O conteúdo gerado por IA pode estar incorreto.">
            <a:extLst>
              <a:ext uri="{FF2B5EF4-FFF2-40B4-BE49-F238E27FC236}">
                <a16:creationId xmlns:a16="http://schemas.microsoft.com/office/drawing/2014/main" id="{30B2202A-1A2E-9B4C-716D-EBB41715D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048256" cy="11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9A2A886-DDC1-4EBD-9E0C-2CA279232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661582"/>
            <a:ext cx="10515600" cy="267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73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8CFD38-AB11-1A62-CDCD-F8FE3786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689" y="178550"/>
            <a:ext cx="7122660" cy="937493"/>
          </a:xfrm>
        </p:spPr>
        <p:txBody>
          <a:bodyPr anchor="b">
            <a:normAutofit/>
          </a:bodyPr>
          <a:lstStyle/>
          <a:p>
            <a:r>
              <a:rPr lang="pt-BR" dirty="0">
                <a:latin typeface="Times New Roman"/>
                <a:ea typeface="Calibri Light"/>
                <a:cs typeface="Calibri Light"/>
              </a:rPr>
              <a:t>BCG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0" name="Picture 2" descr="Balão colorido em fundo branco&#10;&#10;O conteúdo gerado por IA pode estar incorreto.">
            <a:extLst>
              <a:ext uri="{FF2B5EF4-FFF2-40B4-BE49-F238E27FC236}">
                <a16:creationId xmlns:a16="http://schemas.microsoft.com/office/drawing/2014/main" id="{30B2202A-1A2E-9B4C-716D-EBB41715D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2048256" cy="11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78AF00D-6AC4-4EB0-8660-5EDF3FC3F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909439"/>
            <a:ext cx="10515600" cy="218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90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5E4C3-A470-695B-F999-BCFE299A0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539" y="120708"/>
            <a:ext cx="9336657" cy="994885"/>
          </a:xfrm>
        </p:spPr>
        <p:txBody>
          <a:bodyPr>
            <a:normAutofit/>
          </a:bodyPr>
          <a:lstStyle/>
          <a:p>
            <a:r>
              <a:rPr lang="pt-BR" sz="3700">
                <a:latin typeface="Times New Roman"/>
                <a:cs typeface="Times New Roman"/>
              </a:rPr>
              <a:t>MICRO E MACRO: DADOS DO MERCADO</a:t>
            </a:r>
            <a:endParaRPr lang="pt-BR"/>
          </a:p>
        </p:txBody>
      </p:sp>
      <p:pic>
        <p:nvPicPr>
          <p:cNvPr id="5" name="Picture 2" descr="Balão colorido em fundo branco&#10;&#10;O conteúdo gerado por IA pode estar incorreto.">
            <a:extLst>
              <a:ext uri="{FF2B5EF4-FFF2-40B4-BE49-F238E27FC236}">
                <a16:creationId xmlns:a16="http://schemas.microsoft.com/office/drawing/2014/main" id="{7E2CCA61-78AB-3201-6CA8-C3798B4CC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3583"/>
            <a:ext cx="2048256" cy="11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842D366A-13D6-49C0-A69C-EF0E044FB9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368300"/>
            <a:ext cx="10515600" cy="326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419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45C59-467B-3508-2DBC-465E9E849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955" y="264062"/>
            <a:ext cx="10515600" cy="1325563"/>
          </a:xfrm>
        </p:spPr>
        <p:txBody>
          <a:bodyPr/>
          <a:lstStyle/>
          <a:p>
            <a:r>
              <a:rPr lang="pt-BR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O que é SWOT ? 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42FD09-8298-1E1B-65F6-0C7C2DE9A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935" y="2977237"/>
            <a:ext cx="8891147" cy="29539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ea typeface="Calibri"/>
                <a:cs typeface="Calibri"/>
              </a:rPr>
              <a:t> </a:t>
            </a:r>
          </a:p>
          <a:p>
            <a:endParaRPr lang="pt-BR" dirty="0">
              <a:ea typeface="Calibri"/>
              <a:cs typeface="Calibri"/>
            </a:endParaRPr>
          </a:p>
          <a:p>
            <a:endParaRPr lang="pt-BR" dirty="0">
              <a:ea typeface="Calibri"/>
              <a:cs typeface="Calibri"/>
            </a:endParaRPr>
          </a:p>
        </p:txBody>
      </p:sp>
      <p:pic>
        <p:nvPicPr>
          <p:cNvPr id="1026" name="Picture 2" descr="SWOT analysis infographic with icons template has 4 steps such as ...">
            <a:extLst>
              <a:ext uri="{FF2B5EF4-FFF2-40B4-BE49-F238E27FC236}">
                <a16:creationId xmlns:a16="http://schemas.microsoft.com/office/drawing/2014/main" id="{91332B23-79E6-4659-883D-288A14638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858" y="1297859"/>
            <a:ext cx="5594555" cy="499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alão colorido em fundo branco&#10;&#10;O conteúdo gerado por IA pode estar incorreto.">
            <a:extLst>
              <a:ext uri="{FF2B5EF4-FFF2-40B4-BE49-F238E27FC236}">
                <a16:creationId xmlns:a16="http://schemas.microsoft.com/office/drawing/2014/main" id="{04BC1827-88EC-4500-A1C6-5D1485D7A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82241"/>
            <a:ext cx="2048256" cy="112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473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28167D-C08F-AFC1-9EE0-39CE4C73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pt-BR" sz="5400"/>
              <a:t>Matriz SWOT</a:t>
            </a:r>
          </a:p>
        </p:txBody>
      </p:sp>
      <p:pic>
        <p:nvPicPr>
          <p:cNvPr id="5" name="Picture 4" descr="Visão superior de um tabuleiro do jogo Go">
            <a:extLst>
              <a:ext uri="{FF2B5EF4-FFF2-40B4-BE49-F238E27FC236}">
                <a16:creationId xmlns:a16="http://schemas.microsoft.com/office/drawing/2014/main" id="{18ACFB4A-BEA4-6AD5-75EC-28DCEEC099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517" r="32187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8AA503-33E7-21DC-BF8C-14BC29774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pt-BR" sz="2400"/>
              <a:t>Pontos fortes + oportunidades externas = estratégias de crescimento</a:t>
            </a:r>
          </a:p>
          <a:p>
            <a:r>
              <a:rPr lang="pt-BR" sz="2400"/>
              <a:t>Pontos fortes + ameaças externas = estratégias de enfrentamento</a:t>
            </a:r>
          </a:p>
          <a:p>
            <a:r>
              <a:rPr lang="pt-BR" sz="2400"/>
              <a:t>Pontos fracos + oportunidades = estratégias de melhoria</a:t>
            </a:r>
          </a:p>
          <a:p>
            <a:r>
              <a:rPr lang="pt-BR" sz="2400"/>
              <a:t>Pontos fracos + ameaças = estratégia de defesa</a:t>
            </a:r>
          </a:p>
        </p:txBody>
      </p:sp>
    </p:spTree>
    <p:extLst>
      <p:ext uri="{BB962C8B-B14F-4D97-AF65-F5344CB8AC3E}">
        <p14:creationId xmlns:p14="http://schemas.microsoft.com/office/powerpoint/2010/main" val="1338723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68A8D-BEB8-B396-B9F0-451B2E03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Acrescentando os objetivos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C6AD25BE-613F-7C91-572D-2D254916F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291" y="1744149"/>
            <a:ext cx="10028419" cy="451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38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EC702-C5C4-BBC5-DC14-18754111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115" y="251579"/>
            <a:ext cx="10515600" cy="1325563"/>
          </a:xfrm>
        </p:spPr>
        <p:txBody>
          <a:bodyPr/>
          <a:lstStyle/>
          <a:p>
            <a:r>
              <a:rPr lang="pt-BR"/>
              <a:t>Acrescentando os objetivos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92840C7-16B9-60D2-F2A0-670893983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115" y="1351540"/>
            <a:ext cx="9413823" cy="525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31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avios de papel brancos liderados por um navio amarelo">
            <a:extLst>
              <a:ext uri="{FF2B5EF4-FFF2-40B4-BE49-F238E27FC236}">
                <a16:creationId xmlns:a16="http://schemas.microsoft.com/office/drawing/2014/main" id="{3864D109-DFAF-5ADF-F3B2-A148B07E37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4" r="-1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D75951-2954-385F-417E-1B75E0A54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BR" sz="4000"/>
              <a:t>Aplicando o conceito do BSC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48FB20-67ED-061C-9305-47147612A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3" y="2265037"/>
            <a:ext cx="5519057" cy="3742762"/>
          </a:xfrm>
        </p:spPr>
        <p:txBody>
          <a:bodyPr>
            <a:normAutofit fontScale="92500" lnSpcReduction="10000"/>
          </a:bodyPr>
          <a:lstStyle/>
          <a:p>
            <a:r>
              <a:rPr lang="pt-BR" sz="2400"/>
              <a:t>Quais serão os impactos nas áreas:</a:t>
            </a:r>
          </a:p>
          <a:p>
            <a:pPr marL="0" indent="0">
              <a:buNone/>
            </a:pPr>
            <a:endParaRPr lang="pt-BR" sz="2400"/>
          </a:p>
          <a:p>
            <a:r>
              <a:rPr lang="pt-BR" sz="2400"/>
              <a:t>Financeiro: Reescrever o “</a:t>
            </a:r>
            <a:r>
              <a:rPr lang="pt-BR" sz="2400" err="1"/>
              <a:t>How</a:t>
            </a:r>
            <a:r>
              <a:rPr lang="pt-BR" sz="2400"/>
              <a:t> Much” do plano de ação.</a:t>
            </a:r>
          </a:p>
          <a:p>
            <a:r>
              <a:rPr lang="pt-BR" sz="2400"/>
              <a:t>Processos Internos: Quais serão os impactos do Plano de ação sobre a área da Qualidade?</a:t>
            </a:r>
          </a:p>
          <a:p>
            <a:r>
              <a:rPr lang="pt-BR" sz="2400"/>
              <a:t>Clientes: Quais impactos do Plano de ação se pretende alcançar  sobre os clientes?</a:t>
            </a:r>
          </a:p>
          <a:p>
            <a:r>
              <a:rPr lang="pt-BR" sz="2400"/>
              <a:t>Aprendizado e crescimento: Quais serão os impactos do Plano de ação sobre a área de Recursos Humanos?</a:t>
            </a:r>
          </a:p>
          <a:p>
            <a:endParaRPr lang="pt-BR" sz="2400"/>
          </a:p>
          <a:p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340807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A1230C-A4DD-60BF-6183-D64551B83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577814"/>
            <a:ext cx="6894576" cy="1150402"/>
          </a:xfrm>
        </p:spPr>
        <p:txBody>
          <a:bodyPr anchor="b">
            <a:normAutofit/>
          </a:bodyPr>
          <a:lstStyle/>
          <a:p>
            <a:r>
              <a:rPr lang="pt-BR" sz="5400"/>
              <a:t>Plano de Ação</a:t>
            </a:r>
          </a:p>
        </p:txBody>
      </p:sp>
      <p:pic>
        <p:nvPicPr>
          <p:cNvPr id="5" name="Picture 4" descr="Fórmulas matemáticas complexas em um quadro negro">
            <a:extLst>
              <a:ext uri="{FF2B5EF4-FFF2-40B4-BE49-F238E27FC236}">
                <a16:creationId xmlns:a16="http://schemas.microsoft.com/office/drawing/2014/main" id="{7E7D99E7-8C13-CAAF-65C2-C826F746E8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93" r="21469" b="-1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95776F-BBA7-A250-2C0B-53B146DC6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576431"/>
            <a:ext cx="6894576" cy="3483864"/>
          </a:xfrm>
        </p:spPr>
        <p:txBody>
          <a:bodyPr>
            <a:normAutofit fontScale="85000" lnSpcReduction="10000"/>
          </a:bodyPr>
          <a:lstStyle/>
          <a:p>
            <a:r>
              <a:rPr lang="pt-BR" sz="2400"/>
              <a:t>Desenvolva o 5W e 2H baseados nas decisões tomadas na matriz SWOT, onde:</a:t>
            </a:r>
          </a:p>
          <a:p>
            <a:r>
              <a:rPr lang="pt-BR" sz="2400" err="1"/>
              <a:t>What</a:t>
            </a:r>
            <a:r>
              <a:rPr lang="pt-BR" sz="2400"/>
              <a:t> – quais são os objetivos a serem alcançados?</a:t>
            </a:r>
          </a:p>
          <a:p>
            <a:r>
              <a:rPr lang="pt-BR" sz="2400" err="1"/>
              <a:t>Why</a:t>
            </a:r>
            <a:r>
              <a:rPr lang="pt-BR" sz="2400"/>
              <a:t> – Porque são importantes?</a:t>
            </a:r>
          </a:p>
          <a:p>
            <a:r>
              <a:rPr lang="pt-BR" sz="2400"/>
              <a:t>Who – Quem fará ou qual departamento será responsável?</a:t>
            </a:r>
          </a:p>
          <a:p>
            <a:r>
              <a:rPr lang="pt-BR" sz="2400"/>
              <a:t>When – Quando será feito (cronograma)</a:t>
            </a:r>
          </a:p>
          <a:p>
            <a:r>
              <a:rPr lang="pt-BR" sz="2400"/>
              <a:t>Where -  Onde será feito?</a:t>
            </a:r>
          </a:p>
          <a:p>
            <a:r>
              <a:rPr lang="pt-BR" sz="2400" err="1"/>
              <a:t>How</a:t>
            </a:r>
            <a:r>
              <a:rPr lang="pt-BR" sz="2400"/>
              <a:t> – Como será feito? Quais estratégias utilizar para atingir os objetivos?</a:t>
            </a:r>
          </a:p>
          <a:p>
            <a:r>
              <a:rPr lang="pt-BR" sz="2400" err="1"/>
              <a:t>How</a:t>
            </a:r>
            <a:r>
              <a:rPr lang="pt-BR" sz="2400"/>
              <a:t> Much – Quanto custa esta ação?</a:t>
            </a:r>
          </a:p>
          <a:p>
            <a:endParaRPr lang="pt-BR" sz="1700"/>
          </a:p>
          <a:p>
            <a:pPr marL="0" indent="0">
              <a:buNone/>
            </a:pPr>
            <a:endParaRPr lang="pt-BR" sz="1700"/>
          </a:p>
        </p:txBody>
      </p:sp>
    </p:spTree>
    <p:extLst>
      <p:ext uri="{BB962C8B-B14F-4D97-AF65-F5344CB8AC3E}">
        <p14:creationId xmlns:p14="http://schemas.microsoft.com/office/powerpoint/2010/main" val="2215175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4880D5-EFFC-BB96-B279-C46C21B99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Calibri Light"/>
                <a:cs typeface="Calibri Light"/>
              </a:rPr>
              <a:t>PDCA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714C11-051C-2AB1-85C2-E717AB35C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 err="1">
                <a:ea typeface="Calibri"/>
                <a:cs typeface="Calibri"/>
              </a:rPr>
              <a:t>Plan</a:t>
            </a:r>
            <a:r>
              <a:rPr lang="pt-BR" dirty="0">
                <a:ea typeface="Calibri"/>
                <a:cs typeface="Calibri"/>
              </a:rPr>
              <a:t>: </a:t>
            </a:r>
            <a:r>
              <a:rPr lang="pt-BR" dirty="0" err="1">
                <a:ea typeface="Calibri"/>
                <a:cs typeface="Calibri"/>
              </a:rPr>
              <a:t>Swot</a:t>
            </a:r>
            <a:r>
              <a:rPr lang="pt-BR" dirty="0">
                <a:ea typeface="Calibri"/>
                <a:cs typeface="Calibri"/>
              </a:rPr>
              <a:t>, BSC, 5W2H.</a:t>
            </a:r>
          </a:p>
          <a:p>
            <a:r>
              <a:rPr lang="pt-BR" dirty="0">
                <a:ea typeface="Calibri"/>
                <a:cs typeface="Calibri"/>
              </a:rPr>
              <a:t>O trabalho foi feito a partir do </a:t>
            </a:r>
            <a:r>
              <a:rPr lang="pt-BR" dirty="0" err="1">
                <a:ea typeface="Calibri"/>
                <a:cs typeface="Calibri"/>
              </a:rPr>
              <a:t>Plan</a:t>
            </a:r>
            <a:r>
              <a:rPr lang="pt-BR" dirty="0"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1974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sa com itens de produtividade">
            <a:extLst>
              <a:ext uri="{FF2B5EF4-FFF2-40B4-BE49-F238E27FC236}">
                <a16:creationId xmlns:a16="http://schemas.microsoft.com/office/drawing/2014/main" id="{C06EFC07-1356-58B3-4853-429520C108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4" r="-1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4FA449-457E-F7B4-1DBC-C977ADC35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BR" sz="4000"/>
              <a:t>Ferramentas de Controle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305ADD-9FFD-BA30-0F57-548AE6242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pt-BR" sz="2400"/>
              <a:t>Quais instrumentos de avaliação serão utilizados para mensurar os resultados do Plano de Ação?</a:t>
            </a:r>
          </a:p>
          <a:p>
            <a:pPr marL="0" indent="0">
              <a:buNone/>
            </a:pPr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1428661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screvendo um compromisso em uma agenda de papel">
            <a:extLst>
              <a:ext uri="{FF2B5EF4-FFF2-40B4-BE49-F238E27FC236}">
                <a16:creationId xmlns:a16="http://schemas.microsoft.com/office/drawing/2014/main" id="{63EEFFAC-01B2-BE4B-817C-99724E00B7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82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592796-C56D-5859-FD18-B93316B2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BR" sz="4000"/>
              <a:t>Considerações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EE3858-CCBD-D043-34BB-E9D71848A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pt-BR" sz="2400"/>
              <a:t>Aponte aqui as lições aprendidas com este projeto.</a:t>
            </a:r>
          </a:p>
        </p:txBody>
      </p:sp>
    </p:spTree>
    <p:extLst>
      <p:ext uri="{BB962C8B-B14F-4D97-AF65-F5344CB8AC3E}">
        <p14:creationId xmlns:p14="http://schemas.microsoft.com/office/powerpoint/2010/main" val="344965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E4D24F-CD9B-0F51-14D3-11DEB634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err="1"/>
              <a:t>Referências</a:t>
            </a:r>
            <a:r>
              <a:rPr lang="en-US" sz="5400"/>
              <a:t> 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75CE88-CB5C-EC74-5C9A-07A65F100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pt-BR" sz="2400" dirty="0"/>
              <a:t>Elenque os livros, sites, artigos, revistas utilizadas no Projeto.</a:t>
            </a:r>
            <a:endParaRPr lang="pt-BR" sz="2400" dirty="0">
              <a:ea typeface="Calibri"/>
              <a:cs typeface="Calibri"/>
            </a:endParaRPr>
          </a:p>
          <a:p>
            <a:r>
              <a:rPr lang="pt-BR" sz="2400" err="1">
                <a:ea typeface="Calibri"/>
                <a:cs typeface="Calibri"/>
              </a:rPr>
              <a:t>Kantar</a:t>
            </a:r>
            <a:r>
              <a:rPr lang="pt-BR" sz="2400">
                <a:ea typeface="Calibri"/>
                <a:cs typeface="Calibri"/>
              </a:rPr>
              <a:t>.</a:t>
            </a:r>
            <a:endParaRPr lang="pt-BR" sz="2400" dirty="0">
              <a:ea typeface="Calibri"/>
              <a:cs typeface="Calibri"/>
            </a:endParaRPr>
          </a:p>
          <a:p>
            <a:r>
              <a:rPr lang="pt-BR" sz="2400" dirty="0">
                <a:ea typeface="Calibri"/>
                <a:cs typeface="Calibri"/>
              </a:rPr>
              <a:t>Banco Central.</a:t>
            </a:r>
          </a:p>
          <a:p>
            <a:r>
              <a:rPr lang="pt-BR" sz="2400" dirty="0">
                <a:ea typeface="Calibri"/>
                <a:cs typeface="Calibri"/>
              </a:rPr>
              <a:t>Sites dos concorrentes. </a:t>
            </a:r>
          </a:p>
          <a:p>
            <a:r>
              <a:rPr lang="pt-BR" sz="2400" dirty="0">
                <a:ea typeface="Calibri"/>
                <a:cs typeface="Calibri"/>
              </a:rPr>
              <a:t>Último slide.</a:t>
            </a:r>
          </a:p>
        </p:txBody>
      </p:sp>
      <p:pic>
        <p:nvPicPr>
          <p:cNvPr id="5" name="Picture 4" descr="Arquivos em pastas">
            <a:extLst>
              <a:ext uri="{FF2B5EF4-FFF2-40B4-BE49-F238E27FC236}">
                <a16:creationId xmlns:a16="http://schemas.microsoft.com/office/drawing/2014/main" id="{9FFABCCE-E734-6DB6-6BB8-4DB88A76F4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53" r="17231" b="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73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E9074-B45D-5BCB-3259-F75B2DD3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6F4712-1472-E501-8028-3F4D816C4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0384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1DD33ACC7104BAB9F200FDF223428" ma:contentTypeVersion="4" ma:contentTypeDescription="Crie um novo documento." ma:contentTypeScope="" ma:versionID="662b6b2ddc7d7f6b5ce8298eab95dd33">
  <xsd:schema xmlns:xsd="http://www.w3.org/2001/XMLSchema" xmlns:xs="http://www.w3.org/2001/XMLSchema" xmlns:p="http://schemas.microsoft.com/office/2006/metadata/properties" xmlns:ns2="28637d1a-f234-4b65-9343-b25d3de1a3da" targetNamespace="http://schemas.microsoft.com/office/2006/metadata/properties" ma:root="true" ma:fieldsID="7b28eca4fafa4ce796e740bfb7dd5e0b" ns2:_="">
    <xsd:import namespace="28637d1a-f234-4b65-9343-b25d3de1a3da"/>
    <xsd:element name="properties">
      <xsd:complexType>
        <xsd:sequence>
          <xsd:element name="documentManagement">
            <xsd:complexType>
              <xsd:all>
                <xsd:element ref="ns2:Parteescrita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637d1a-f234-4b65-9343-b25d3de1a3da" elementFormDefault="qualified">
    <xsd:import namespace="http://schemas.microsoft.com/office/2006/documentManagement/types"/>
    <xsd:import namespace="http://schemas.microsoft.com/office/infopath/2007/PartnerControls"/>
    <xsd:element name="Parteescrita" ma:index="8" nillable="true" ma:displayName="Parte escrita" ma:format="Dropdown" ma:internalName="Parteescrita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arteescrita xmlns="28637d1a-f234-4b65-9343-b25d3de1a3da" xsi:nil="true"/>
  </documentManagement>
</p:properties>
</file>

<file path=customXml/itemProps1.xml><?xml version="1.0" encoding="utf-8"?>
<ds:datastoreItem xmlns:ds="http://schemas.openxmlformats.org/officeDocument/2006/customXml" ds:itemID="{4070310E-4D65-43C8-926F-93F41EA820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466308-9A43-4331-9685-3C5C96540BA5}">
  <ds:schemaRefs>
    <ds:schemaRef ds:uri="28637d1a-f234-4b65-9343-b25d3de1a3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CA2FD0B-2538-47A8-981A-2D1DB7C544BC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http://www.w3.org/XML/1998/namespace"/>
    <ds:schemaRef ds:uri="28637d1a-f234-4b65-9343-b25d3de1a3da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773</Words>
  <Application>Microsoft Office PowerPoint</Application>
  <PresentationFormat>Widescreen</PresentationFormat>
  <Paragraphs>103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Tema do Office</vt:lpstr>
      <vt:lpstr>Projeto Planejamento Estratégico</vt:lpstr>
      <vt:lpstr>Integrantes da Equipe</vt:lpstr>
      <vt:lpstr>Apresentação do PowerPoint</vt:lpstr>
      <vt:lpstr>Apresentação do PowerPoint</vt:lpstr>
      <vt:lpstr>Apresentação do PowerPoint</vt:lpstr>
      <vt:lpstr>ONDE ESTAMOS ? </vt:lpstr>
      <vt:lpstr>Organograma Diretoria </vt:lpstr>
      <vt:lpstr>Posicionamento da BRF</vt:lpstr>
      <vt:lpstr>Apresentação do PowerPoint</vt:lpstr>
      <vt:lpstr>             PRINCIPAIS PRODUTOS                             SADIA </vt:lpstr>
      <vt:lpstr>     PRINCIPAIS CLIENTES              SADIA</vt:lpstr>
      <vt:lpstr>Apresentação do PowerPoint</vt:lpstr>
      <vt:lpstr>PRINCIPAIS CONCORRENTES              SADIA X AURORA </vt:lpstr>
      <vt:lpstr>CRITÉRIOS CLASSIFICADORES DE COMPRA </vt:lpstr>
      <vt:lpstr>CONHEÇA A TI MESMO   </vt:lpstr>
      <vt:lpstr>BCG</vt:lpstr>
      <vt:lpstr>BCG</vt:lpstr>
      <vt:lpstr>BCG</vt:lpstr>
      <vt:lpstr>BCG</vt:lpstr>
      <vt:lpstr>MICRO E MACRO: DADOS DO MERCADO</vt:lpstr>
      <vt:lpstr>O que é SWOT ? </vt:lpstr>
      <vt:lpstr>Matriz SWOT</vt:lpstr>
      <vt:lpstr>Acrescentando os objetivos</vt:lpstr>
      <vt:lpstr>Acrescentando os objetivos</vt:lpstr>
      <vt:lpstr>Aplicando o conceito do BSC</vt:lpstr>
      <vt:lpstr>Plano de Ação</vt:lpstr>
      <vt:lpstr>PDCA</vt:lpstr>
      <vt:lpstr>Ferramentas de Controle</vt:lpstr>
      <vt:lpstr>Considerações finais</vt:lpstr>
      <vt:lpstr>Referências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Planejamento Estratégico na Qualidade</dc:title>
  <dc:creator>CARLA PINEDA LECHUGO</dc:creator>
  <cp:lastModifiedBy>GIOVANNA ALMEIDA DE CAMPOS</cp:lastModifiedBy>
  <cp:revision>86</cp:revision>
  <dcterms:created xsi:type="dcterms:W3CDTF">2023-05-08T12:58:23Z</dcterms:created>
  <dcterms:modified xsi:type="dcterms:W3CDTF">2025-11-11T01:34:10Z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0x0101000161DD33ACC7104BAB9F200FDF223428</vt:lpwstr>
  </property>
</Properties>
</file>